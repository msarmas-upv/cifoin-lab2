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256" r:id="rId2"/>
    <p:sldId id="295" r:id="rId3"/>
    <p:sldId id="304" r:id="rId4"/>
    <p:sldId id="315" r:id="rId5"/>
    <p:sldId id="302" r:id="rId6"/>
    <p:sldId id="303" r:id="rId7"/>
    <p:sldId id="316" r:id="rId8"/>
    <p:sldId id="317" r:id="rId9"/>
    <p:sldId id="314" r:id="rId10"/>
    <p:sldId id="291" r:id="rId11"/>
    <p:sldId id="296" r:id="rId12"/>
    <p:sldId id="305" r:id="rId13"/>
    <p:sldId id="294" r:id="rId14"/>
    <p:sldId id="299" r:id="rId15"/>
    <p:sldId id="300" r:id="rId16"/>
    <p:sldId id="301" r:id="rId17"/>
    <p:sldId id="290" r:id="rId18"/>
    <p:sldId id="297" r:id="rId19"/>
    <p:sldId id="292" r:id="rId20"/>
    <p:sldId id="298" r:id="rId21"/>
    <p:sldId id="288" r:id="rId2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7E6AA1-F40B-4037-AFD2-15F7924F93C5}" v="21" dt="2026-05-03T17:29:57.25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603" autoAdjust="0"/>
  </p:normalViewPr>
  <p:slideViewPr>
    <p:cSldViewPr snapToGrid="0">
      <p:cViewPr varScale="1">
        <p:scale>
          <a:sx n="81" d="100"/>
          <a:sy n="81" d="100"/>
        </p:scale>
        <p:origin x="535" y="55"/>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62F14-D0A9-36EC-D7FD-271D28A54D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5EB3A1-9726-8FD1-0381-000AB0E607F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9E3FB47-DC9C-F73B-7FD5-F3C36C05BB1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E6B0816-65BB-F5ED-6399-29F43A3E158E}"/>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370936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74892-23C0-FAAE-B3F0-3F5654A54E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EA20EA-6132-44DA-A0E8-A359F0A11BA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9441D6-1BA8-63AA-58DA-880906E7886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987C26C-A556-BCAF-F75E-B418161B73E0}"/>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676264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62811-E9FE-7F9C-0222-81617CA415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6596C5-4115-5BD0-6029-0A924A4CFF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A412741-854B-70D5-BE69-8D38AC90279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8304278-02FE-D90A-D61A-622F8EEA9722}"/>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52512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5B70E-3F3F-80ED-56D1-778D90B8C5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CE68F5-72DF-F5BD-6946-2860F2F87A7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D8C9A2-DF5A-1E6B-7896-969E974AB43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D3BF4E8-60FE-4262-39F4-6CF4DE0B60B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872980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73089-A02F-B145-3BD1-89E1C080C5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6ED24D-B14C-02C0-7E24-4989F4A0B38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332EF4-47AE-CEBA-AD21-D4463EEB5F1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A3C24E1-4CC4-3E31-259E-2DEA0FD7BF1F}"/>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745393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sv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3.svg"/><Relationship Id="rId7"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1.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3.svg"/><Relationship Id="rId7"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0.png"/><Relationship Id="rId4" Type="http://schemas.openxmlformats.org/officeDocument/2006/relationships/image" Target="../media/image58.png"/></Relationships>
</file>

<file path=ppt/slides/_rels/slide2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2.0. </a:t>
            </a:r>
            <a:r>
              <a:rPr lang="es-ES" sz="3200" b="1" err="1">
                <a:latin typeface="Lucida Sans"/>
                <a:cs typeface="Lucida Sans"/>
              </a:rPr>
              <a:t>Couplers</a:t>
            </a:r>
            <a:endParaRPr sz="3200">
              <a:latin typeface="Lucida Sans"/>
              <a:cs typeface="Lucida Sans"/>
            </a:endParaRPr>
          </a:p>
        </p:txBody>
      </p:sp>
      <p:sp>
        <p:nvSpPr>
          <p:cNvPr id="4" name="object 4"/>
          <p:cNvSpPr txBox="1"/>
          <p:nvPr/>
        </p:nvSpPr>
        <p:spPr>
          <a:xfrm>
            <a:off x="2749676" y="5455131"/>
            <a:ext cx="8223124" cy="869469"/>
          </a:xfrm>
          <a:prstGeom prst="rect">
            <a:avLst/>
          </a:prstGeom>
        </p:spPr>
        <p:txBody>
          <a:bodyPr vert="horz" wrap="square" lIns="0" tIns="12700" rIns="0" bIns="0" rtlCol="0">
            <a:spAutoFit/>
          </a:bodyPr>
          <a:lstStyle/>
          <a:p>
            <a:pPr marL="12700">
              <a:lnSpc>
                <a:spcPct val="100000"/>
              </a:lnSpc>
              <a:spcBef>
                <a:spcPts val="100"/>
              </a:spcBef>
            </a:pPr>
            <a:r>
              <a:rPr lang="es-ES" u="sng" spc="165" err="1">
                <a:latin typeface="Arial"/>
                <a:cs typeface="Arial"/>
              </a:rPr>
              <a:t>Students</a:t>
            </a:r>
            <a:r>
              <a:rPr lang="es-ES" spc="165">
                <a:latin typeface="Arial"/>
                <a:cs typeface="Arial"/>
              </a:rPr>
              <a:t>:</a:t>
            </a:r>
          </a:p>
          <a:p>
            <a:pPr marL="12700">
              <a:lnSpc>
                <a:spcPct val="100000"/>
              </a:lnSpc>
              <a:spcBef>
                <a:spcPts val="100"/>
              </a:spcBef>
            </a:pPr>
            <a:r>
              <a:rPr lang="es-ES" spc="165">
                <a:latin typeface="Arial"/>
                <a:cs typeface="Arial"/>
              </a:rPr>
              <a:t>Youssef Habassa El Assad</a:t>
            </a:r>
          </a:p>
          <a:p>
            <a:pPr marL="12700">
              <a:lnSpc>
                <a:spcPct val="100000"/>
              </a:lnSpc>
              <a:spcBef>
                <a:spcPts val="100"/>
              </a:spcBef>
            </a:pPr>
            <a:r>
              <a:rPr lang="es-ES" spc="165">
                <a:latin typeface="Arial"/>
                <a:cs typeface="Arial"/>
              </a:rPr>
              <a:t>Mara Sarrión Masip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234538" y="267716"/>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511790" y="822947"/>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436303" y="4191534"/>
            <a:ext cx="11199971" cy="2462213"/>
          </a:xfrm>
          <a:prstGeom prst="rect">
            <a:avLst/>
          </a:prstGeom>
          <a:solidFill>
            <a:schemeClr val="bg1">
              <a:lumMod val="95000"/>
            </a:schemeClr>
          </a:solidFill>
          <a:ln w="28575">
            <a:solidFill>
              <a:srgbClr val="E0700D"/>
            </a:solidFill>
          </a:ln>
        </p:spPr>
        <p:txBody>
          <a:bodyPr wrap="square" rtlCol="0">
            <a:spAutoFit/>
          </a:bodyPr>
          <a:lstStyle/>
          <a:p>
            <a:pPr algn="just"/>
            <a:r>
              <a:rPr lang="en-US" sz="1400">
                <a:latin typeface="Arial" panose="020B0604020202020204" pitchFamily="34" charset="0"/>
                <a:cs typeface="Arial" panose="020B0604020202020204" pitchFamily="34" charset="0"/>
              </a:rPr>
              <a:t>Para </a:t>
            </a:r>
            <a:r>
              <a:rPr lang="en-US" sz="1400" err="1">
                <a:latin typeface="Arial" panose="020B0604020202020204" pitchFamily="34" charset="0"/>
                <a:cs typeface="Arial" panose="020B0604020202020204" pitchFamily="34" charset="0"/>
              </a:rPr>
              <a:t>este</a:t>
            </a:r>
            <a:r>
              <a:rPr lang="en-US" sz="1400">
                <a:latin typeface="Arial" panose="020B0604020202020204" pitchFamily="34" charset="0"/>
                <a:cs typeface="Arial" panose="020B0604020202020204" pitchFamily="34" charset="0"/>
              </a:rPr>
              <a:t> primer LO1, </a:t>
            </a:r>
            <a:r>
              <a:rPr lang="en-US" sz="1400" err="1">
                <a:latin typeface="Arial" panose="020B0604020202020204" pitchFamily="34" charset="0"/>
                <a:cs typeface="Arial" panose="020B0604020202020204" pitchFamily="34" charset="0"/>
              </a:rPr>
              <a:t>empezamos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definiendo</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sección</a:t>
            </a:r>
            <a:r>
              <a:rPr lang="en-US" sz="1400">
                <a:latin typeface="Arial" panose="020B0604020202020204" pitchFamily="34" charset="0"/>
                <a:cs typeface="Arial" panose="020B0604020202020204" pitchFamily="34" charset="0"/>
              </a:rPr>
              <a:t> transversal de un </a:t>
            </a:r>
            <a:r>
              <a:rPr lang="en-US" sz="1400" err="1">
                <a:latin typeface="Arial" panose="020B0604020202020204" pitchFamily="34" charset="0"/>
                <a:cs typeface="Arial" panose="020B0604020202020204" pitchFamily="34" charset="0"/>
              </a:rPr>
              <a:t>acoplador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direccional</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modelando</a:t>
            </a:r>
            <a:r>
              <a:rPr lang="en-US" sz="1400">
                <a:latin typeface="Arial" panose="020B0604020202020204" pitchFamily="34" charset="0"/>
                <a:cs typeface="Arial" panose="020B0604020202020204" pitchFamily="34" charset="0"/>
              </a:rPr>
              <a:t> dos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onda</a:t>
            </a:r>
            <a:r>
              <a:rPr lang="en-US" sz="1400">
                <a:latin typeface="Arial" panose="020B0604020202020204" pitchFamily="34" charset="0"/>
                <a:cs typeface="Arial" panose="020B0604020202020204" pitchFamily="34" charset="0"/>
              </a:rPr>
              <a:t> de Si3N4 de </a:t>
            </a:r>
            <a:r>
              <a:rPr lang="en-US" sz="1400" err="1">
                <a:latin typeface="Arial" panose="020B0604020202020204" pitchFamily="34" charset="0"/>
                <a:cs typeface="Arial" panose="020B0604020202020204" pitchFamily="34" charset="0"/>
              </a:rPr>
              <a:t>anchura</a:t>
            </a:r>
            <a:r>
              <a:rPr lang="en-US" sz="1400">
                <a:latin typeface="Arial" panose="020B0604020202020204" pitchFamily="34" charset="0"/>
                <a:cs typeface="Arial" panose="020B0604020202020204" pitchFamily="34" charset="0"/>
              </a:rPr>
              <a:t> 1.2 um y </a:t>
            </a:r>
            <a:r>
              <a:rPr lang="en-US" sz="1400" err="1">
                <a:latin typeface="Arial" panose="020B0604020202020204" pitchFamily="34" charset="0"/>
                <a:cs typeface="Arial" panose="020B0604020202020204" pitchFamily="34" charset="0"/>
              </a:rPr>
              <a:t>altura</a:t>
            </a:r>
            <a:r>
              <a:rPr lang="en-US" sz="1400">
                <a:latin typeface="Arial" panose="020B0604020202020204" pitchFamily="34" charset="0"/>
                <a:cs typeface="Arial" panose="020B0604020202020204" pitchFamily="34" charset="0"/>
              </a:rPr>
              <a:t> 300 nm, con un </a:t>
            </a:r>
            <a:r>
              <a:rPr lang="en-US" sz="1400" err="1">
                <a:latin typeface="Arial" panose="020B0604020202020204" pitchFamily="34" charset="0"/>
                <a:cs typeface="Arial" panose="020B0604020202020204" pitchFamily="34" charset="0"/>
              </a:rPr>
              <a:t>recubrimiento</a:t>
            </a:r>
            <a:r>
              <a:rPr lang="en-US" sz="1400">
                <a:latin typeface="Arial" panose="020B0604020202020204" pitchFamily="34" charset="0"/>
                <a:cs typeface="Arial" panose="020B0604020202020204" pitchFamily="34" charset="0"/>
              </a:rPr>
              <a:t> de SiO2 , </a:t>
            </a:r>
            <a:r>
              <a:rPr lang="en-US" sz="1400" err="1">
                <a:latin typeface="Arial" panose="020B0604020202020204" pitchFamily="34" charset="0"/>
                <a:cs typeface="Arial" panose="020B0604020202020204" pitchFamily="34" charset="0"/>
              </a:rPr>
              <a:t>separadas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por</a:t>
            </a:r>
            <a:r>
              <a:rPr lang="en-US" sz="1400">
                <a:latin typeface="Arial" panose="020B0604020202020204" pitchFamily="34" charset="0"/>
                <a:cs typeface="Arial" panose="020B0604020202020204" pitchFamily="34" charset="0"/>
              </a:rPr>
              <a:t> un </a:t>
            </a:r>
            <a:r>
              <a:rPr lang="en-US" sz="1400" err="1">
                <a:latin typeface="Arial" panose="020B0604020202020204" pitchFamily="34" charset="0"/>
                <a:cs typeface="Arial" panose="020B0604020202020204" pitchFamily="34" charset="0"/>
              </a:rPr>
              <a:t>hueco</a:t>
            </a:r>
            <a:r>
              <a:rPr lang="en-US" sz="1400">
                <a:latin typeface="Arial" panose="020B0604020202020204" pitchFamily="34" charset="0"/>
                <a:cs typeface="Arial" panose="020B0604020202020204" pitchFamily="34" charset="0"/>
              </a:rPr>
              <a:t> de 600 nm. Este “</a:t>
            </a:r>
            <a:r>
              <a:rPr lang="en-US" sz="1400" err="1">
                <a:latin typeface="Arial" panose="020B0604020202020204" pitchFamily="34" charset="0"/>
                <a:cs typeface="Arial" panose="020B0604020202020204" pitchFamily="34" charset="0"/>
              </a:rPr>
              <a:t>hueco</a:t>
            </a:r>
            <a:r>
              <a:rPr lang="en-US" sz="1400">
                <a:latin typeface="Arial" panose="020B0604020202020204" pitchFamily="34" charset="0"/>
                <a:cs typeface="Arial" panose="020B0604020202020204" pitchFamily="34" charset="0"/>
              </a:rPr>
              <a:t>” (gap) </a:t>
            </a:r>
            <a:r>
              <a:rPr lang="en-US" sz="1400" err="1">
                <a:latin typeface="Arial" panose="020B0604020202020204" pitchFamily="34" charset="0"/>
                <a:cs typeface="Arial" panose="020B0604020202020204" pitchFamily="34" charset="0"/>
              </a:rPr>
              <a:t>definirá</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grado</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acople</a:t>
            </a:r>
            <a:r>
              <a:rPr lang="en-US" sz="1400">
                <a:latin typeface="Arial" panose="020B0604020202020204" pitchFamily="34" charset="0"/>
                <a:cs typeface="Arial" panose="020B0604020202020204" pitchFamily="34" charset="0"/>
              </a:rPr>
              <a:t> entre las dos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El plot </a:t>
            </a:r>
            <a:r>
              <a:rPr lang="en-US" sz="1400" err="1">
                <a:latin typeface="Arial" panose="020B0604020202020204" pitchFamily="34" charset="0"/>
                <a:cs typeface="Arial" panose="020B0604020202020204" pitchFamily="34" charset="0"/>
              </a:rPr>
              <a:t>muestra</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distribución</a:t>
            </a:r>
            <a:r>
              <a:rPr lang="en-US" sz="1400">
                <a:latin typeface="Arial" panose="020B0604020202020204" pitchFamily="34" charset="0"/>
                <a:cs typeface="Arial" panose="020B0604020202020204" pitchFamily="34" charset="0"/>
              </a:rPr>
              <a:t> del </a:t>
            </a:r>
            <a:r>
              <a:rPr lang="en-US" sz="1400" err="1">
                <a:latin typeface="Arial" panose="020B0604020202020204" pitchFamily="34" charset="0"/>
                <a:cs typeface="Arial" panose="020B0604020202020204" pitchFamily="34" charset="0"/>
              </a:rPr>
              <a:t>índice</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refracción</a:t>
            </a:r>
            <a:r>
              <a:rPr lang="en-US" sz="1400">
                <a:latin typeface="Arial" panose="020B0604020202020204" pitchFamily="34" charset="0"/>
                <a:cs typeface="Arial" panose="020B0604020202020204" pitchFamily="34" charset="0"/>
              </a:rPr>
              <a:t> en la </a:t>
            </a:r>
            <a:r>
              <a:rPr lang="en-US" sz="1400" err="1">
                <a:latin typeface="Arial" panose="020B0604020202020204" pitchFamily="34" charset="0"/>
                <a:cs typeface="Arial" panose="020B0604020202020204" pitchFamily="34" charset="0"/>
              </a:rPr>
              <a:t>sección</a:t>
            </a:r>
            <a:r>
              <a:rPr lang="en-US" sz="1400">
                <a:latin typeface="Arial" panose="020B0604020202020204" pitchFamily="34" charset="0"/>
                <a:cs typeface="Arial" panose="020B0604020202020204" pitchFamily="34" charset="0"/>
              </a:rPr>
              <a:t> transversal, </a:t>
            </a:r>
            <a:r>
              <a:rPr lang="en-US" sz="1400" err="1">
                <a:latin typeface="Arial" panose="020B0604020202020204" pitchFamily="34" charset="0"/>
                <a:cs typeface="Arial" panose="020B0604020202020204" pitchFamily="34" charset="0"/>
              </a:rPr>
              <a:t>donde</a:t>
            </a:r>
            <a:r>
              <a:rPr lang="en-US" sz="1400">
                <a:latin typeface="Arial" panose="020B0604020202020204" pitchFamily="34" charset="0"/>
                <a:cs typeface="Arial" panose="020B0604020202020204" pitchFamily="34" charset="0"/>
              </a:rPr>
              <a:t> se </a:t>
            </a:r>
            <a:r>
              <a:rPr lang="en-US" sz="1400" err="1">
                <a:latin typeface="Arial" panose="020B0604020202020204" pitchFamily="34" charset="0"/>
                <a:cs typeface="Arial" panose="020B0604020202020204" pitchFamily="34" charset="0"/>
              </a:rPr>
              <a:t>distinguen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claramente</a:t>
            </a:r>
            <a:r>
              <a:rPr lang="en-US" sz="1400">
                <a:latin typeface="Arial" panose="020B0604020202020204" pitchFamily="34" charset="0"/>
                <a:cs typeface="Arial" panose="020B0604020202020204" pitchFamily="34" charset="0"/>
              </a:rPr>
              <a:t> dos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núcleo</a:t>
            </a:r>
            <a:r>
              <a:rPr lang="en-US" sz="1400">
                <a:latin typeface="Arial" panose="020B0604020202020204" pitchFamily="34" charset="0"/>
                <a:cs typeface="Arial" panose="020B0604020202020204" pitchFamily="34" charset="0"/>
              </a:rPr>
              <a:t>.</a:t>
            </a:r>
          </a:p>
          <a:p>
            <a:pPr algn="just"/>
            <a:endParaRPr lang="en-US" sz="1400">
              <a:latin typeface="Arial" panose="020B0604020202020204" pitchFamily="34" charset="0"/>
              <a:cs typeface="Arial" panose="020B0604020202020204" pitchFamily="34" charset="0"/>
            </a:endParaRPr>
          </a:p>
          <a:p>
            <a:pPr algn="just"/>
            <a:r>
              <a:rPr lang="en-US" sz="1400">
                <a:latin typeface="Arial" panose="020B0604020202020204" pitchFamily="34" charset="0"/>
                <a:cs typeface="Arial" panose="020B0604020202020204" pitchFamily="34" charset="0"/>
              </a:rPr>
              <a:t>El </a:t>
            </a:r>
            <a:r>
              <a:rPr lang="en-US" sz="1400" err="1">
                <a:latin typeface="Arial" panose="020B0604020202020204" pitchFamily="34" charset="0"/>
                <a:cs typeface="Arial" panose="020B0604020202020204" pitchFamily="34" charset="0"/>
              </a:rPr>
              <a:t>cálculo</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índices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efectivos</a:t>
            </a:r>
            <a:r>
              <a:rPr lang="en-US" sz="1400">
                <a:latin typeface="Arial" panose="020B0604020202020204" pitchFamily="34" charset="0"/>
                <a:cs typeface="Arial" panose="020B0604020202020204" pitchFamily="34" charset="0"/>
              </a:rPr>
              <a:t> (</a:t>
            </a:r>
            <a:r>
              <a:rPr lang="es-ES" sz="1400" err="1">
                <a:latin typeface="Arial" panose="020B0604020202020204" pitchFamily="34" charset="0"/>
                <a:cs typeface="Arial" panose="020B0604020202020204" pitchFamily="34" charset="0"/>
              </a:rPr>
              <a:t>n_eff</a:t>
            </a:r>
            <a:r>
              <a:rPr lang="es-ES" sz="1400">
                <a:latin typeface="Arial" panose="020B0604020202020204" pitchFamily="34" charset="0"/>
                <a:cs typeface="Arial" panose="020B0604020202020204" pitchFamily="34" charset="0"/>
              </a:rPr>
              <a:t>) </a:t>
            </a:r>
            <a:r>
              <a:rPr lang="en-US" sz="1400">
                <a:latin typeface="Arial" panose="020B0604020202020204" pitchFamily="34" charset="0"/>
                <a:cs typeface="Arial" panose="020B0604020202020204" pitchFamily="34" charset="0"/>
              </a:rPr>
              <a:t>y las </a:t>
            </a:r>
            <a:r>
              <a:rPr lang="en-US" sz="1400" err="1">
                <a:latin typeface="Arial" panose="020B0604020202020204" pitchFamily="34" charset="0"/>
                <a:cs typeface="Arial" panose="020B0604020202020204" pitchFamily="34" charset="0"/>
              </a:rPr>
              <a:t>fracciones</a:t>
            </a:r>
            <a:r>
              <a:rPr lang="en-US" sz="1400">
                <a:latin typeface="Arial" panose="020B0604020202020204" pitchFamily="34" charset="0"/>
                <a:cs typeface="Arial" panose="020B0604020202020204" pitchFamily="34" charset="0"/>
              </a:rPr>
              <a:t> de TE y TM </a:t>
            </a:r>
            <a:r>
              <a:rPr lang="en-US" sz="1400" err="1">
                <a:latin typeface="Arial" panose="020B0604020202020204" pitchFamily="34" charset="0"/>
                <a:cs typeface="Arial" panose="020B0604020202020204" pitchFamily="34" charset="0"/>
              </a:rPr>
              <a:t>muestran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modos</a:t>
            </a:r>
            <a:r>
              <a:rPr lang="en-US" sz="1400">
                <a:latin typeface="Arial" panose="020B0604020202020204" pitchFamily="34" charset="0"/>
                <a:cs typeface="Arial" panose="020B0604020202020204" pitchFamily="34" charset="0"/>
              </a:rPr>
              <a:t> 1 y 2 </a:t>
            </a:r>
            <a:r>
              <a:rPr lang="en-US" sz="1400" err="1">
                <a:latin typeface="Arial" panose="020B0604020202020204" pitchFamily="34" charset="0"/>
                <a:cs typeface="Arial" panose="020B0604020202020204" pitchFamily="34" charset="0"/>
              </a:rPr>
              <a:t>corresponden</a:t>
            </a:r>
            <a:r>
              <a:rPr lang="en-US" sz="1400">
                <a:latin typeface="Arial" panose="020B0604020202020204" pitchFamily="34" charset="0"/>
                <a:cs typeface="Arial" panose="020B0604020202020204" pitchFamily="34" charset="0"/>
              </a:rPr>
              <a:t> a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supermodos</a:t>
            </a:r>
            <a:r>
              <a:rPr lang="en-US" sz="1400">
                <a:latin typeface="Arial" panose="020B0604020202020204" pitchFamily="34" charset="0"/>
                <a:cs typeface="Arial" panose="020B0604020202020204" pitchFamily="34" charset="0"/>
              </a:rPr>
              <a:t> par e impar de </a:t>
            </a:r>
            <a:r>
              <a:rPr lang="en-US" sz="1400" err="1">
                <a:latin typeface="Arial" panose="020B0604020202020204" pitchFamily="34" charset="0"/>
                <a:cs typeface="Arial" panose="020B0604020202020204" pitchFamily="34" charset="0"/>
              </a:rPr>
              <a:t>polarización</a:t>
            </a:r>
            <a:r>
              <a:rPr lang="en-US" sz="1400">
                <a:latin typeface="Arial" panose="020B0604020202020204" pitchFamily="34" charset="0"/>
                <a:cs typeface="Arial" panose="020B0604020202020204" pitchFamily="34" charset="0"/>
              </a:rPr>
              <a:t> TE, con </a:t>
            </a:r>
            <a:r>
              <a:rPr lang="en-US" sz="1400" err="1">
                <a:latin typeface="Arial" panose="020B0604020202020204" pitchFamily="34" charset="0"/>
                <a:cs typeface="Arial" panose="020B0604020202020204" pitchFamily="34" charset="0"/>
              </a:rPr>
              <a:t>índices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efectivos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próximos</a:t>
            </a:r>
            <a:r>
              <a:rPr lang="en-US" sz="1400">
                <a:latin typeface="Arial" panose="020B0604020202020204" pitchFamily="34" charset="0"/>
                <a:cs typeface="Arial" panose="020B0604020202020204" pitchFamily="34" charset="0"/>
              </a:rPr>
              <a:t> entre </a:t>
            </a:r>
            <a:r>
              <a:rPr lang="en-US" sz="1400" err="1">
                <a:latin typeface="Arial" panose="020B0604020202020204" pitchFamily="34" charset="0"/>
                <a:cs typeface="Arial" panose="020B0604020202020204" pitchFamily="34" charset="0"/>
              </a:rPr>
              <a:t>sí</a:t>
            </a:r>
            <a:r>
              <a:rPr lang="en-US" sz="1400">
                <a:latin typeface="Arial" panose="020B0604020202020204" pitchFamily="34" charset="0"/>
                <a:cs typeface="Arial" panose="020B0604020202020204" pitchFamily="34" charset="0"/>
              </a:rPr>
              <a:t>, lo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refleja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acoplamiento</a:t>
            </a:r>
            <a:r>
              <a:rPr lang="en-US" sz="1400">
                <a:latin typeface="Arial" panose="020B0604020202020204" pitchFamily="34" charset="0"/>
                <a:cs typeface="Arial" panose="020B0604020202020204" pitchFamily="34" charset="0"/>
              </a:rPr>
              <a:t> entre las dos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Los </a:t>
            </a:r>
            <a:r>
              <a:rPr lang="en-US" sz="1400" err="1">
                <a:latin typeface="Arial" panose="020B0604020202020204" pitchFamily="34" charset="0"/>
                <a:cs typeface="Arial" panose="020B0604020202020204" pitchFamily="34" charset="0"/>
              </a:rPr>
              <a:t>modos</a:t>
            </a:r>
            <a:r>
              <a:rPr lang="en-US" sz="1400">
                <a:latin typeface="Arial" panose="020B0604020202020204" pitchFamily="34" charset="0"/>
                <a:cs typeface="Arial" panose="020B0604020202020204" pitchFamily="34" charset="0"/>
              </a:rPr>
              <a:t> 3 y 4 son sus </a:t>
            </a:r>
            <a:r>
              <a:rPr lang="en-US" sz="1400" err="1">
                <a:latin typeface="Arial" panose="020B0604020202020204" pitchFamily="34" charset="0"/>
                <a:cs typeface="Arial" panose="020B0604020202020204" pitchFamily="34" charset="0"/>
              </a:rPr>
              <a:t>equivalentes</a:t>
            </a:r>
            <a:r>
              <a:rPr lang="en-US" sz="1400">
                <a:latin typeface="Arial" panose="020B0604020202020204" pitchFamily="34" charset="0"/>
                <a:cs typeface="Arial" panose="020B0604020202020204" pitchFamily="34" charset="0"/>
              </a:rPr>
              <a:t> TM.</a:t>
            </a:r>
          </a:p>
          <a:p>
            <a:pPr algn="just"/>
            <a:endParaRPr lang="en-US" sz="1400">
              <a:latin typeface="Arial" panose="020B0604020202020204" pitchFamily="34" charset="0"/>
              <a:cs typeface="Arial" panose="020B0604020202020204" pitchFamily="34" charset="0"/>
            </a:endParaRPr>
          </a:p>
          <a:p>
            <a:pPr algn="just"/>
            <a:r>
              <a:rPr lang="es-ES" sz="1400">
                <a:latin typeface="Arial" panose="020B0604020202020204" pitchFamily="34" charset="0"/>
                <a:cs typeface="Arial" panose="020B0604020202020204" pitchFamily="34" charset="0"/>
              </a:rPr>
              <a:t>La pequeña parte imaginaria de los índices efectivos representa las pérdidas de propagación del modo. Las fracciones TE/TM confirman una separación de polarizaciones prácticamente pura en todos los modos.</a:t>
            </a:r>
            <a:endParaRPr lang="en-US" sz="140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631978E-6A06-88E2-D2B7-DAFD54310366}"/>
              </a:ext>
            </a:extLst>
          </p:cNvPr>
          <p:cNvPicPr>
            <a:picLocks noChangeAspect="1"/>
          </p:cNvPicPr>
          <p:nvPr/>
        </p:nvPicPr>
        <p:blipFill>
          <a:blip r:embed="rId4"/>
          <a:stretch>
            <a:fillRect/>
          </a:stretch>
        </p:blipFill>
        <p:spPr>
          <a:xfrm>
            <a:off x="631211" y="761828"/>
            <a:ext cx="4797423" cy="3368587"/>
          </a:xfrm>
          <a:prstGeom prst="rect">
            <a:avLst/>
          </a:prstGeom>
        </p:spPr>
      </p:pic>
      <p:pic>
        <p:nvPicPr>
          <p:cNvPr id="8" name="Picture 7">
            <a:extLst>
              <a:ext uri="{FF2B5EF4-FFF2-40B4-BE49-F238E27FC236}">
                <a16:creationId xmlns:a16="http://schemas.microsoft.com/office/drawing/2014/main" id="{3EFBB33E-011C-F230-CE67-739B743F0B51}"/>
              </a:ext>
            </a:extLst>
          </p:cNvPr>
          <p:cNvPicPr>
            <a:picLocks noChangeAspect="1"/>
          </p:cNvPicPr>
          <p:nvPr/>
        </p:nvPicPr>
        <p:blipFill>
          <a:blip r:embed="rId5"/>
          <a:stretch>
            <a:fillRect/>
          </a:stretch>
        </p:blipFill>
        <p:spPr>
          <a:xfrm>
            <a:off x="6001580" y="1422097"/>
            <a:ext cx="5398591" cy="484211"/>
          </a:xfrm>
          <a:prstGeom prst="rect">
            <a:avLst/>
          </a:prstGeom>
        </p:spPr>
      </p:pic>
      <p:sp>
        <p:nvSpPr>
          <p:cNvPr id="10" name="TextBox 9">
            <a:extLst>
              <a:ext uri="{FF2B5EF4-FFF2-40B4-BE49-F238E27FC236}">
                <a16:creationId xmlns:a16="http://schemas.microsoft.com/office/drawing/2014/main" id="{DF7C80D6-38C8-1B12-65F9-3928DFF35126}"/>
              </a:ext>
            </a:extLst>
          </p:cNvPr>
          <p:cNvSpPr txBox="1"/>
          <p:nvPr/>
        </p:nvSpPr>
        <p:spPr>
          <a:xfrm>
            <a:off x="5882159" y="1071864"/>
            <a:ext cx="4894635" cy="369332"/>
          </a:xfrm>
          <a:prstGeom prst="rect">
            <a:avLst/>
          </a:prstGeom>
          <a:noFill/>
        </p:spPr>
        <p:txBody>
          <a:bodyPr wrap="square" rtlCol="0">
            <a:spAutoFit/>
          </a:bodyPr>
          <a:lstStyle/>
          <a:p>
            <a:r>
              <a:rPr lang="es-ES"/>
              <a:t>Índice efectivo:</a:t>
            </a:r>
          </a:p>
        </p:txBody>
      </p:sp>
      <p:sp>
        <p:nvSpPr>
          <p:cNvPr id="11" name="TextBox 10">
            <a:extLst>
              <a:ext uri="{FF2B5EF4-FFF2-40B4-BE49-F238E27FC236}">
                <a16:creationId xmlns:a16="http://schemas.microsoft.com/office/drawing/2014/main" id="{620E9D84-4626-34C2-CD80-628A0DE4FEC9}"/>
              </a:ext>
            </a:extLst>
          </p:cNvPr>
          <p:cNvSpPr txBox="1"/>
          <p:nvPr/>
        </p:nvSpPr>
        <p:spPr>
          <a:xfrm>
            <a:off x="5949455" y="2082332"/>
            <a:ext cx="4894635" cy="369332"/>
          </a:xfrm>
          <a:prstGeom prst="rect">
            <a:avLst/>
          </a:prstGeom>
          <a:noFill/>
        </p:spPr>
        <p:txBody>
          <a:bodyPr wrap="square" rtlCol="0">
            <a:spAutoFit/>
          </a:bodyPr>
          <a:lstStyle/>
          <a:p>
            <a:r>
              <a:rPr lang="es-ES"/>
              <a:t>Fracción TM:</a:t>
            </a:r>
          </a:p>
        </p:txBody>
      </p:sp>
      <p:sp>
        <p:nvSpPr>
          <p:cNvPr id="13" name="TextBox 12">
            <a:extLst>
              <a:ext uri="{FF2B5EF4-FFF2-40B4-BE49-F238E27FC236}">
                <a16:creationId xmlns:a16="http://schemas.microsoft.com/office/drawing/2014/main" id="{1F001B42-A388-9EC1-2EAD-E9375D736A2C}"/>
              </a:ext>
            </a:extLst>
          </p:cNvPr>
          <p:cNvSpPr txBox="1"/>
          <p:nvPr/>
        </p:nvSpPr>
        <p:spPr>
          <a:xfrm>
            <a:off x="5882159" y="2903451"/>
            <a:ext cx="5492035" cy="369332"/>
          </a:xfrm>
          <a:prstGeom prst="rect">
            <a:avLst/>
          </a:prstGeom>
          <a:noFill/>
        </p:spPr>
        <p:txBody>
          <a:bodyPr wrap="square">
            <a:spAutoFit/>
          </a:bodyPr>
          <a:lstStyle/>
          <a:p>
            <a:r>
              <a:rPr lang="es-ES"/>
              <a:t>Fracción TE:</a:t>
            </a:r>
          </a:p>
        </p:txBody>
      </p:sp>
      <p:pic>
        <p:nvPicPr>
          <p:cNvPr id="15" name="Picture 14">
            <a:extLst>
              <a:ext uri="{FF2B5EF4-FFF2-40B4-BE49-F238E27FC236}">
                <a16:creationId xmlns:a16="http://schemas.microsoft.com/office/drawing/2014/main" id="{84053726-BA10-AFFC-F998-2E3C6546A195}"/>
              </a:ext>
            </a:extLst>
          </p:cNvPr>
          <p:cNvPicPr>
            <a:picLocks noChangeAspect="1"/>
          </p:cNvPicPr>
          <p:nvPr/>
        </p:nvPicPr>
        <p:blipFill>
          <a:blip r:embed="rId6"/>
          <a:stretch>
            <a:fillRect/>
          </a:stretch>
        </p:blipFill>
        <p:spPr>
          <a:xfrm>
            <a:off x="5979725" y="3251552"/>
            <a:ext cx="5700485" cy="271811"/>
          </a:xfrm>
          <a:prstGeom prst="rect">
            <a:avLst/>
          </a:prstGeom>
        </p:spPr>
      </p:pic>
      <p:pic>
        <p:nvPicPr>
          <p:cNvPr id="18" name="Picture 17">
            <a:extLst>
              <a:ext uri="{FF2B5EF4-FFF2-40B4-BE49-F238E27FC236}">
                <a16:creationId xmlns:a16="http://schemas.microsoft.com/office/drawing/2014/main" id="{0518C1F1-8C11-FFA1-983A-062761E927D9}"/>
              </a:ext>
            </a:extLst>
          </p:cNvPr>
          <p:cNvPicPr>
            <a:picLocks noChangeAspect="1"/>
          </p:cNvPicPr>
          <p:nvPr/>
        </p:nvPicPr>
        <p:blipFill>
          <a:blip r:embed="rId7"/>
          <a:stretch>
            <a:fillRect/>
          </a:stretch>
        </p:blipFill>
        <p:spPr>
          <a:xfrm>
            <a:off x="6001581" y="2413835"/>
            <a:ext cx="5388632" cy="378888"/>
          </a:xfrm>
          <a:prstGeom prst="rect">
            <a:avLst/>
          </a:prstGeom>
        </p:spPr>
      </p:pic>
      <p:sp>
        <p:nvSpPr>
          <p:cNvPr id="19" name="Rectangle 18">
            <a:extLst>
              <a:ext uri="{FF2B5EF4-FFF2-40B4-BE49-F238E27FC236}">
                <a16:creationId xmlns:a16="http://schemas.microsoft.com/office/drawing/2014/main" id="{A5AA0F6A-2401-6B5D-30A1-E13171EEFDF0}"/>
              </a:ext>
            </a:extLst>
          </p:cNvPr>
          <p:cNvSpPr/>
          <p:nvPr/>
        </p:nvSpPr>
        <p:spPr>
          <a:xfrm>
            <a:off x="6001580" y="1422097"/>
            <a:ext cx="5348160" cy="224740"/>
          </a:xfrm>
          <a:prstGeom prst="rect">
            <a:avLst/>
          </a:prstGeom>
          <a:solidFill>
            <a:srgbClr val="4F81BD">
              <a:alpha val="18039"/>
            </a:srgbClr>
          </a:solidFill>
          <a:ln w="381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angle 19">
            <a:extLst>
              <a:ext uri="{FF2B5EF4-FFF2-40B4-BE49-F238E27FC236}">
                <a16:creationId xmlns:a16="http://schemas.microsoft.com/office/drawing/2014/main" id="{E2636B3D-7340-DA49-34B2-3ED1F1DC2D4A}"/>
              </a:ext>
            </a:extLst>
          </p:cNvPr>
          <p:cNvSpPr/>
          <p:nvPr/>
        </p:nvSpPr>
        <p:spPr>
          <a:xfrm>
            <a:off x="6664816" y="3243473"/>
            <a:ext cx="2434108" cy="271811"/>
          </a:xfrm>
          <a:prstGeom prst="rect">
            <a:avLst/>
          </a:prstGeom>
          <a:solidFill>
            <a:srgbClr val="4F81BD">
              <a:alpha val="18039"/>
            </a:srgbClr>
          </a:solidFill>
          <a:ln w="381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angle 20">
            <a:extLst>
              <a:ext uri="{FF2B5EF4-FFF2-40B4-BE49-F238E27FC236}">
                <a16:creationId xmlns:a16="http://schemas.microsoft.com/office/drawing/2014/main" id="{2981176E-210E-7715-5AF2-3CA1EFB4EA7D}"/>
              </a:ext>
            </a:extLst>
          </p:cNvPr>
          <p:cNvSpPr/>
          <p:nvPr/>
        </p:nvSpPr>
        <p:spPr>
          <a:xfrm>
            <a:off x="6021817" y="1689754"/>
            <a:ext cx="5348160" cy="238437"/>
          </a:xfrm>
          <a:prstGeom prst="rect">
            <a:avLst/>
          </a:prstGeom>
          <a:solidFill>
            <a:srgbClr val="4F81BD">
              <a:alpha val="18039"/>
            </a:srgb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Rectangle 21">
            <a:extLst>
              <a:ext uri="{FF2B5EF4-FFF2-40B4-BE49-F238E27FC236}">
                <a16:creationId xmlns:a16="http://schemas.microsoft.com/office/drawing/2014/main" id="{8B235B3F-11B5-4668-2283-5D3D3B276021}"/>
              </a:ext>
            </a:extLst>
          </p:cNvPr>
          <p:cNvSpPr/>
          <p:nvPr/>
        </p:nvSpPr>
        <p:spPr>
          <a:xfrm>
            <a:off x="8886423" y="2460493"/>
            <a:ext cx="2463317" cy="276267"/>
          </a:xfrm>
          <a:prstGeom prst="rect">
            <a:avLst/>
          </a:prstGeom>
          <a:solidFill>
            <a:srgbClr val="4F81BD">
              <a:alpha val="18039"/>
            </a:srgb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A8048-23FD-A6F6-267B-8D79AB87114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A416778-200D-CB3E-282B-9C433E00A7BA}"/>
              </a:ext>
            </a:extLst>
          </p:cNvPr>
          <p:cNvSpPr txBox="1">
            <a:spLocks noGrp="1"/>
          </p:cNvSpPr>
          <p:nvPr>
            <p:ph type="title"/>
          </p:nvPr>
        </p:nvSpPr>
        <p:spPr>
          <a:xfrm>
            <a:off x="234538" y="267716"/>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094F9072-7602-2A8B-C9BA-B7E91ED6F8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9BF8DFB-B7FC-0FD9-3218-65BA269F91E9}"/>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802BA999-3350-1D7F-200C-8B3B16E2070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E3437719-B58E-FCA1-F75A-0CACA3AFC02B}"/>
              </a:ext>
            </a:extLst>
          </p:cNvPr>
          <p:cNvSpPr txBox="1"/>
          <p:nvPr/>
        </p:nvSpPr>
        <p:spPr>
          <a:xfrm>
            <a:off x="6096001" y="950827"/>
            <a:ext cx="5844446" cy="3754874"/>
          </a:xfrm>
          <a:prstGeom prst="rect">
            <a:avLst/>
          </a:prstGeom>
          <a:solidFill>
            <a:schemeClr val="bg1">
              <a:lumMod val="95000"/>
            </a:schemeClr>
          </a:solidFill>
          <a:ln w="28575">
            <a:solidFill>
              <a:srgbClr val="E0700D"/>
            </a:solidFill>
          </a:ln>
        </p:spPr>
        <p:txBody>
          <a:bodyPr wrap="square" rtlCol="0">
            <a:spAutoFit/>
          </a:bodyPr>
          <a:lstStyle/>
          <a:p>
            <a:pPr algn="just"/>
            <a:r>
              <a:rPr lang="en-US" sz="1400">
                <a:latin typeface="Arial" panose="020B0604020202020204" pitchFamily="34" charset="0"/>
                <a:cs typeface="Arial" panose="020B0604020202020204" pitchFamily="34" charset="0"/>
              </a:rPr>
              <a:t>Si </a:t>
            </a:r>
            <a:r>
              <a:rPr lang="en-US" sz="1400" err="1">
                <a:latin typeface="Arial" panose="020B0604020202020204" pitchFamily="34" charset="0"/>
                <a:cs typeface="Arial" panose="020B0604020202020204" pitchFamily="34" charset="0"/>
              </a:rPr>
              <a:t>representamos</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componente</a:t>
            </a:r>
            <a:r>
              <a:rPr lang="en-US" sz="1400">
                <a:latin typeface="Arial" panose="020B0604020202020204" pitchFamily="34" charset="0"/>
                <a:cs typeface="Arial" panose="020B0604020202020204" pitchFamily="34" charset="0"/>
              </a:rPr>
              <a:t> de campo </a:t>
            </a:r>
            <a:r>
              <a:rPr lang="en-US" sz="1400" err="1">
                <a:latin typeface="Arial" panose="020B0604020202020204" pitchFamily="34" charset="0"/>
                <a:cs typeface="Arial" panose="020B0604020202020204" pitchFamily="34" charset="0"/>
              </a:rPr>
              <a:t>dominante</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cada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supermodo</a:t>
            </a:r>
            <a:r>
              <a:rPr lang="en-US" sz="1400">
                <a:latin typeface="Arial" panose="020B0604020202020204" pitchFamily="34" charset="0"/>
                <a:cs typeface="Arial" panose="020B0604020202020204" pitchFamily="34" charset="0"/>
              </a:rPr>
              <a:t> se </a:t>
            </a:r>
            <a:r>
              <a:rPr lang="en-US" sz="1400" err="1">
                <a:latin typeface="Arial" panose="020B0604020202020204" pitchFamily="34" charset="0"/>
                <a:cs typeface="Arial" panose="020B0604020202020204" pitchFamily="34" charset="0"/>
              </a:rPr>
              <a:t>observa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todos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campos </a:t>
            </a:r>
            <a:r>
              <a:rPr lang="en-US" sz="1400" err="1">
                <a:latin typeface="Arial" panose="020B0604020202020204" pitchFamily="34" charset="0"/>
                <a:cs typeface="Arial" panose="020B0604020202020204" pitchFamily="34" charset="0"/>
              </a:rPr>
              <a:t>están</a:t>
            </a:r>
            <a:r>
              <a:rPr lang="en-US" sz="1400">
                <a:latin typeface="Arial" panose="020B0604020202020204" pitchFamily="34" charset="0"/>
                <a:cs typeface="Arial" panose="020B0604020202020204" pitchFamily="34" charset="0"/>
              </a:rPr>
              <a:t> bien </a:t>
            </a:r>
            <a:r>
              <a:rPr lang="en-US" sz="1400" err="1">
                <a:latin typeface="Arial" panose="020B0604020202020204" pitchFamily="34" charset="0"/>
                <a:cs typeface="Arial" panose="020B0604020202020204" pitchFamily="34" charset="0"/>
              </a:rPr>
              <a:t>condinados</a:t>
            </a:r>
            <a:r>
              <a:rPr lang="en-US" sz="1400">
                <a:latin typeface="Arial" panose="020B0604020202020204" pitchFamily="34" charset="0"/>
                <a:cs typeface="Arial" panose="020B0604020202020204" pitchFamily="34" charset="0"/>
              </a:rPr>
              <a:t> en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núcleos</a:t>
            </a:r>
            <a:r>
              <a:rPr lang="en-US" sz="1400">
                <a:latin typeface="Arial" panose="020B0604020202020204" pitchFamily="34" charset="0"/>
                <a:cs typeface="Arial" panose="020B0604020202020204" pitchFamily="34" charset="0"/>
              </a:rPr>
              <a:t>, sin </a:t>
            </a:r>
            <a:r>
              <a:rPr lang="en-US" sz="1400" err="1">
                <a:latin typeface="Arial" panose="020B0604020202020204" pitchFamily="34" charset="0"/>
                <a:cs typeface="Arial" panose="020B0604020202020204" pitchFamily="34" charset="0"/>
              </a:rPr>
              <a:t>presencia</a:t>
            </a:r>
            <a:r>
              <a:rPr lang="en-US" sz="1400">
                <a:latin typeface="Arial" panose="020B0604020202020204" pitchFamily="34" charset="0"/>
                <a:cs typeface="Arial" panose="020B0604020202020204" pitchFamily="34" charset="0"/>
              </a:rPr>
              <a:t> appreciable de campo en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gap.</a:t>
            </a:r>
          </a:p>
          <a:p>
            <a:pPr algn="just"/>
            <a:endParaRPr lang="en-US" sz="1400">
              <a:latin typeface="Arial" panose="020B0604020202020204" pitchFamily="34" charset="0"/>
              <a:cs typeface="Arial" panose="020B0604020202020204" pitchFamily="34" charset="0"/>
            </a:endParaRPr>
          </a:p>
          <a:p>
            <a:pPr algn="just"/>
            <a:r>
              <a:rPr lang="en-US" sz="1400" b="1">
                <a:latin typeface="Arial" panose="020B0604020202020204" pitchFamily="34" charset="0"/>
                <a:cs typeface="Arial" panose="020B0604020202020204" pitchFamily="34" charset="0"/>
              </a:rPr>
              <a:t>Modo 0</a:t>
            </a:r>
            <a:r>
              <a:rPr lang="en-US" sz="1400">
                <a:latin typeface="Arial" panose="020B0604020202020204" pitchFamily="34" charset="0"/>
                <a:cs typeface="Arial" panose="020B0604020202020204" pitchFamily="34" charset="0"/>
              </a:rPr>
              <a:t> (TE, </a:t>
            </a:r>
            <a:r>
              <a:rPr lang="en-US" sz="1400" err="1">
                <a:latin typeface="Arial" panose="020B0604020202020204" pitchFamily="34" charset="0"/>
                <a:cs typeface="Arial" panose="020B0604020202020204" pitchFamily="34" charset="0"/>
              </a:rPr>
              <a:t>supermodo</a:t>
            </a:r>
            <a:r>
              <a:rPr lang="en-US" sz="1400">
                <a:latin typeface="Arial" panose="020B0604020202020204" pitchFamily="34" charset="0"/>
                <a:cs typeface="Arial" panose="020B0604020202020204" pitchFamily="34" charset="0"/>
              </a:rPr>
              <a:t> par): ambas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presentan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lóbulos</a:t>
            </a:r>
            <a:r>
              <a:rPr lang="en-US" sz="1400">
                <a:latin typeface="Arial" panose="020B0604020202020204" pitchFamily="34" charset="0"/>
                <a:cs typeface="Arial" panose="020B0604020202020204" pitchFamily="34" charset="0"/>
              </a:rPr>
              <a:t> Ex del </a:t>
            </a:r>
            <a:r>
              <a:rPr lang="en-US" sz="1400" err="1">
                <a:latin typeface="Arial" panose="020B0604020202020204" pitchFamily="34" charset="0"/>
                <a:cs typeface="Arial" panose="020B0604020202020204" pitchFamily="34" charset="0"/>
              </a:rPr>
              <a:t>mismo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signo</a:t>
            </a:r>
            <a:r>
              <a:rPr lang="en-US" sz="1400">
                <a:latin typeface="Arial" panose="020B0604020202020204" pitchFamily="34" charset="0"/>
                <a:cs typeface="Arial" panose="020B0604020202020204" pitchFamily="34" charset="0"/>
              </a:rPr>
              <a:t>. </a:t>
            </a:r>
          </a:p>
          <a:p>
            <a:pPr algn="just"/>
            <a:endParaRPr lang="en-US" sz="1400">
              <a:latin typeface="Arial" panose="020B0604020202020204" pitchFamily="34" charset="0"/>
              <a:cs typeface="Arial" panose="020B0604020202020204" pitchFamily="34" charset="0"/>
            </a:endParaRPr>
          </a:p>
          <a:p>
            <a:pPr algn="just"/>
            <a:r>
              <a:rPr lang="en-US" sz="1400" b="1">
                <a:latin typeface="Arial" panose="020B0604020202020204" pitchFamily="34" charset="0"/>
                <a:cs typeface="Arial" panose="020B0604020202020204" pitchFamily="34" charset="0"/>
              </a:rPr>
              <a:t>Modo 1</a:t>
            </a:r>
            <a:r>
              <a:rPr lang="en-US" sz="1400">
                <a:latin typeface="Arial" panose="020B0604020202020204" pitchFamily="34" charset="0"/>
                <a:cs typeface="Arial" panose="020B0604020202020204" pitchFamily="34" charset="0"/>
              </a:rPr>
              <a:t> (TE, </a:t>
            </a:r>
            <a:r>
              <a:rPr lang="en-US" sz="1400" err="1">
                <a:latin typeface="Arial" panose="020B0604020202020204" pitchFamily="34" charset="0"/>
                <a:cs typeface="Arial" panose="020B0604020202020204" pitchFamily="34" charset="0"/>
              </a:rPr>
              <a:t>supermodo</a:t>
            </a:r>
            <a:r>
              <a:rPr lang="en-US" sz="1400">
                <a:latin typeface="Arial" panose="020B0604020202020204" pitchFamily="34" charset="0"/>
                <a:cs typeface="Arial" panose="020B0604020202020204" pitchFamily="34" charset="0"/>
              </a:rPr>
              <a:t> impar):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lóbulos</a:t>
            </a:r>
            <a:r>
              <a:rPr lang="en-US" sz="1400">
                <a:latin typeface="Arial" panose="020B0604020202020204" pitchFamily="34" charset="0"/>
                <a:cs typeface="Arial" panose="020B0604020202020204" pitchFamily="34" charset="0"/>
              </a:rPr>
              <a:t> Ex en </a:t>
            </a:r>
            <a:r>
              <a:rPr lang="en-US" sz="1400" err="1">
                <a:latin typeface="Arial" panose="020B0604020202020204" pitchFamily="34" charset="0"/>
                <a:cs typeface="Arial" panose="020B0604020202020204" pitchFamily="34" charset="0"/>
              </a:rPr>
              <a:t>cada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guía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tienen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signos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opuestos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reflejando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su</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naturaleza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antisimétrica</a:t>
            </a:r>
            <a:r>
              <a:rPr lang="en-US" sz="1400">
                <a:latin typeface="Arial" panose="020B0604020202020204" pitchFamily="34" charset="0"/>
                <a:cs typeface="Arial" panose="020B0604020202020204" pitchFamily="34" charset="0"/>
              </a:rPr>
              <a:t> del </a:t>
            </a:r>
            <a:r>
              <a:rPr lang="en-US" sz="1400" err="1">
                <a:latin typeface="Arial" panose="020B0604020202020204" pitchFamily="34" charset="0"/>
                <a:cs typeface="Arial" panose="020B0604020202020204" pitchFamily="34" charset="0"/>
              </a:rPr>
              <a:t>supermodo</a:t>
            </a:r>
            <a:r>
              <a:rPr lang="en-US" sz="1400">
                <a:latin typeface="Arial" panose="020B0604020202020204" pitchFamily="34" charset="0"/>
                <a:cs typeface="Arial" panose="020B0604020202020204" pitchFamily="34" charset="0"/>
              </a:rPr>
              <a:t>.</a:t>
            </a:r>
          </a:p>
          <a:p>
            <a:pPr algn="just"/>
            <a:endParaRPr lang="en-US" sz="1400">
              <a:latin typeface="Arial" panose="020B0604020202020204" pitchFamily="34" charset="0"/>
              <a:cs typeface="Arial" panose="020B0604020202020204" pitchFamily="34" charset="0"/>
            </a:endParaRPr>
          </a:p>
          <a:p>
            <a:pPr algn="just"/>
            <a:r>
              <a:rPr lang="en-US" sz="1400" b="1">
                <a:latin typeface="Arial" panose="020B0604020202020204" pitchFamily="34" charset="0"/>
                <a:cs typeface="Arial" panose="020B0604020202020204" pitchFamily="34" charset="0"/>
              </a:rPr>
              <a:t>Modo 2</a:t>
            </a:r>
            <a:r>
              <a:rPr lang="en-US" sz="1400">
                <a:latin typeface="Arial" panose="020B0604020202020204" pitchFamily="34" charset="0"/>
                <a:cs typeface="Arial" panose="020B0604020202020204" pitchFamily="34" charset="0"/>
              </a:rPr>
              <a:t> (TM, </a:t>
            </a:r>
            <a:r>
              <a:rPr lang="en-US" sz="1400" err="1">
                <a:latin typeface="Arial" panose="020B0604020202020204" pitchFamily="34" charset="0"/>
                <a:cs typeface="Arial" panose="020B0604020202020204" pitchFamily="34" charset="0"/>
              </a:rPr>
              <a:t>supermodo</a:t>
            </a:r>
            <a:r>
              <a:rPr lang="en-US" sz="1400">
                <a:latin typeface="Arial" panose="020B0604020202020204" pitchFamily="34" charset="0"/>
                <a:cs typeface="Arial" panose="020B0604020202020204" pitchFamily="34" charset="0"/>
              </a:rPr>
              <a:t> par): ambas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presentan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lóbulos</a:t>
            </a:r>
            <a:r>
              <a:rPr lang="en-US" sz="1400">
                <a:latin typeface="Arial" panose="020B0604020202020204" pitchFamily="34" charset="0"/>
                <a:cs typeface="Arial" panose="020B0604020202020204" pitchFamily="34" charset="0"/>
              </a:rPr>
              <a:t> Ey del </a:t>
            </a:r>
            <a:r>
              <a:rPr lang="en-US" sz="1400" err="1">
                <a:latin typeface="Arial" panose="020B0604020202020204" pitchFamily="34" charset="0"/>
                <a:cs typeface="Arial" panose="020B0604020202020204" pitchFamily="34" charset="0"/>
              </a:rPr>
              <a:t>mismo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signo</a:t>
            </a:r>
            <a:r>
              <a:rPr lang="en-US" sz="1400">
                <a:latin typeface="Arial" panose="020B0604020202020204" pitchFamily="34" charset="0"/>
                <a:cs typeface="Arial" panose="020B0604020202020204" pitchFamily="34" charset="0"/>
              </a:rPr>
              <a:t>. El campo </a:t>
            </a:r>
            <a:r>
              <a:rPr lang="en-US" sz="1400" err="1">
                <a:latin typeface="Arial" panose="020B0604020202020204" pitchFamily="34" charset="0"/>
                <a:cs typeface="Arial" panose="020B0604020202020204" pitchFamily="34" charset="0"/>
              </a:rPr>
              <a:t>está</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extendido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verticalmente</a:t>
            </a:r>
            <a:r>
              <a:rPr lang="en-US" sz="1400">
                <a:latin typeface="Arial" panose="020B0604020202020204" pitchFamily="34" charset="0"/>
                <a:cs typeface="Arial" panose="020B0604020202020204" pitchFamily="34" charset="0"/>
              </a:rPr>
              <a:t> en </a:t>
            </a:r>
            <a:r>
              <a:rPr lang="en-US" sz="1400" err="1">
                <a:latin typeface="Arial" panose="020B0604020202020204" pitchFamily="34" charset="0"/>
                <a:cs typeface="Arial" panose="020B0604020202020204" pitchFamily="34" charset="0"/>
              </a:rPr>
              <a:t>comparación</a:t>
            </a:r>
            <a:r>
              <a:rPr lang="en-US" sz="1400">
                <a:latin typeface="Arial" panose="020B0604020202020204" pitchFamily="34" charset="0"/>
                <a:cs typeface="Arial" panose="020B0604020202020204" pitchFamily="34" charset="0"/>
              </a:rPr>
              <a:t> a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modos</a:t>
            </a:r>
            <a:r>
              <a:rPr lang="en-US" sz="1400">
                <a:latin typeface="Arial" panose="020B0604020202020204" pitchFamily="34" charset="0"/>
                <a:cs typeface="Arial" panose="020B0604020202020204" pitchFamily="34" charset="0"/>
              </a:rPr>
              <a:t> TE, </a:t>
            </a:r>
            <a:r>
              <a:rPr lang="en-US" sz="1400" err="1">
                <a:latin typeface="Arial" panose="020B0604020202020204" pitchFamily="34" charset="0"/>
                <a:cs typeface="Arial" panose="020B0604020202020204" pitchFamily="34" charset="0"/>
              </a:rPr>
              <a:t>consecuencia</a:t>
            </a:r>
            <a:r>
              <a:rPr lang="en-US" sz="1400">
                <a:latin typeface="Arial" panose="020B0604020202020204" pitchFamily="34" charset="0"/>
                <a:cs typeface="Arial" panose="020B0604020202020204" pitchFamily="34" charset="0"/>
              </a:rPr>
              <a:t> de la </a:t>
            </a:r>
            <a:r>
              <a:rPr lang="en-US" sz="1400" err="1">
                <a:latin typeface="Arial" panose="020B0604020202020204" pitchFamily="34" charset="0"/>
                <a:cs typeface="Arial" panose="020B0604020202020204" pitchFamily="34" charset="0"/>
              </a:rPr>
              <a:t>menor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confinación</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característica</a:t>
            </a:r>
            <a:r>
              <a:rPr lang="en-US" sz="1400">
                <a:latin typeface="Arial" panose="020B0604020202020204" pitchFamily="34" charset="0"/>
                <a:cs typeface="Arial" panose="020B0604020202020204" pitchFamily="34" charset="0"/>
              </a:rPr>
              <a:t> de la </a:t>
            </a:r>
            <a:r>
              <a:rPr lang="en-US" sz="1400" err="1">
                <a:latin typeface="Arial" panose="020B0604020202020204" pitchFamily="34" charset="0"/>
                <a:cs typeface="Arial" panose="020B0604020202020204" pitchFamily="34" charset="0"/>
              </a:rPr>
              <a:t>polarización</a:t>
            </a:r>
            <a:r>
              <a:rPr lang="en-US" sz="1400">
                <a:latin typeface="Arial" panose="020B0604020202020204" pitchFamily="34" charset="0"/>
                <a:cs typeface="Arial" panose="020B0604020202020204" pitchFamily="34" charset="0"/>
              </a:rPr>
              <a:t> TM en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anchas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altas</a:t>
            </a:r>
            <a:r>
              <a:rPr lang="en-US" sz="1400">
                <a:latin typeface="Arial" panose="020B0604020202020204" pitchFamily="34" charset="0"/>
                <a:cs typeface="Arial" panose="020B0604020202020204" pitchFamily="34" charset="0"/>
              </a:rPr>
              <a:t>.</a:t>
            </a:r>
          </a:p>
          <a:p>
            <a:pPr algn="just"/>
            <a:endParaRPr lang="en-US" sz="1400">
              <a:latin typeface="Arial" panose="020B0604020202020204" pitchFamily="34" charset="0"/>
              <a:cs typeface="Arial" panose="020B0604020202020204" pitchFamily="34" charset="0"/>
            </a:endParaRPr>
          </a:p>
          <a:p>
            <a:pPr algn="just"/>
            <a:r>
              <a:rPr lang="en-US" sz="1400" b="1">
                <a:latin typeface="Arial" panose="020B0604020202020204" pitchFamily="34" charset="0"/>
                <a:cs typeface="Arial" panose="020B0604020202020204" pitchFamily="34" charset="0"/>
              </a:rPr>
              <a:t>Modo 3</a:t>
            </a:r>
            <a:r>
              <a:rPr lang="en-US" sz="1400">
                <a:latin typeface="Arial" panose="020B0604020202020204" pitchFamily="34" charset="0"/>
                <a:cs typeface="Arial" panose="020B0604020202020204" pitchFamily="34" charset="0"/>
              </a:rPr>
              <a:t> (TM, </a:t>
            </a:r>
            <a:r>
              <a:rPr lang="en-US" sz="1400" err="1">
                <a:latin typeface="Arial" panose="020B0604020202020204" pitchFamily="34" charset="0"/>
                <a:cs typeface="Arial" panose="020B0604020202020204" pitchFamily="34" charset="0"/>
              </a:rPr>
              <a:t>supermodo</a:t>
            </a:r>
            <a:r>
              <a:rPr lang="en-US" sz="1400">
                <a:latin typeface="Arial" panose="020B0604020202020204" pitchFamily="34" charset="0"/>
                <a:cs typeface="Arial" panose="020B0604020202020204" pitchFamily="34" charset="0"/>
              </a:rPr>
              <a:t> impar): </a:t>
            </a:r>
            <a:r>
              <a:rPr lang="en-US" sz="1400" err="1">
                <a:latin typeface="Arial" panose="020B0604020202020204" pitchFamily="34" charset="0"/>
                <a:cs typeface="Arial" panose="020B0604020202020204" pitchFamily="34" charset="0"/>
              </a:rPr>
              <a:t>análogo</a:t>
            </a:r>
            <a:r>
              <a:rPr lang="en-US" sz="1400">
                <a:latin typeface="Arial" panose="020B0604020202020204" pitchFamily="34" charset="0"/>
                <a:cs typeface="Arial" panose="020B0604020202020204" pitchFamily="34" charset="0"/>
              </a:rPr>
              <a:t> al modo 1 </a:t>
            </a:r>
            <a:r>
              <a:rPr lang="en-US" sz="1400" err="1">
                <a:latin typeface="Arial" panose="020B0604020202020204" pitchFamily="34" charset="0"/>
                <a:cs typeface="Arial" panose="020B0604020202020204" pitchFamily="34" charset="0"/>
              </a:rPr>
              <a:t>pero</a:t>
            </a:r>
            <a:r>
              <a:rPr lang="en-US" sz="1400">
                <a:latin typeface="Arial" panose="020B0604020202020204" pitchFamily="34" charset="0"/>
                <a:cs typeface="Arial" panose="020B0604020202020204" pitchFamily="34" charset="0"/>
              </a:rPr>
              <a:t> en </a:t>
            </a:r>
            <a:r>
              <a:rPr lang="en-US" sz="1400" err="1">
                <a:latin typeface="Arial" panose="020B0604020202020204" pitchFamily="34" charset="0"/>
                <a:cs typeface="Arial" panose="020B0604020202020204" pitchFamily="34" charset="0"/>
              </a:rPr>
              <a:t>polarización</a:t>
            </a:r>
            <a:r>
              <a:rPr lang="en-US" sz="1400">
                <a:latin typeface="Arial" panose="020B0604020202020204" pitchFamily="34" charset="0"/>
                <a:cs typeface="Arial" panose="020B0604020202020204" pitchFamily="34" charset="0"/>
              </a:rPr>
              <a:t> TM. De nuevo,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campo </a:t>
            </a:r>
            <a:r>
              <a:rPr lang="en-US" sz="1400" err="1">
                <a:latin typeface="Arial" panose="020B0604020202020204" pitchFamily="34" charset="0"/>
                <a:cs typeface="Arial" panose="020B0604020202020204" pitchFamily="34" charset="0"/>
              </a:rPr>
              <a:t>stá</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extendido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verticalmente</a:t>
            </a:r>
            <a:r>
              <a:rPr lang="en-US" sz="1400">
                <a:latin typeface="Arial" panose="020B0604020202020204" pitchFamily="34" charset="0"/>
                <a:cs typeface="Arial" panose="020B0604020202020204" pitchFamily="34" charset="0"/>
              </a:rPr>
              <a:t>.</a:t>
            </a:r>
          </a:p>
        </p:txBody>
      </p:sp>
      <p:pic>
        <p:nvPicPr>
          <p:cNvPr id="7" name="Picture 6">
            <a:extLst>
              <a:ext uri="{FF2B5EF4-FFF2-40B4-BE49-F238E27FC236}">
                <a16:creationId xmlns:a16="http://schemas.microsoft.com/office/drawing/2014/main" id="{B6BB1291-2352-62DC-46F5-917FF1F7822D}"/>
              </a:ext>
            </a:extLst>
          </p:cNvPr>
          <p:cNvPicPr>
            <a:picLocks noChangeAspect="1"/>
          </p:cNvPicPr>
          <p:nvPr/>
        </p:nvPicPr>
        <p:blipFill>
          <a:blip r:embed="rId4"/>
          <a:stretch>
            <a:fillRect/>
          </a:stretch>
        </p:blipFill>
        <p:spPr>
          <a:xfrm>
            <a:off x="245115" y="1338896"/>
            <a:ext cx="2760087" cy="1886948"/>
          </a:xfrm>
          <a:prstGeom prst="rect">
            <a:avLst/>
          </a:prstGeom>
          <a:ln>
            <a:solidFill>
              <a:schemeClr val="tx1"/>
            </a:solidFill>
          </a:ln>
        </p:spPr>
      </p:pic>
      <p:pic>
        <p:nvPicPr>
          <p:cNvPr id="12" name="Picture 11">
            <a:extLst>
              <a:ext uri="{FF2B5EF4-FFF2-40B4-BE49-F238E27FC236}">
                <a16:creationId xmlns:a16="http://schemas.microsoft.com/office/drawing/2014/main" id="{71888099-4459-BF81-5B3E-E560EFCA9499}"/>
              </a:ext>
            </a:extLst>
          </p:cNvPr>
          <p:cNvPicPr>
            <a:picLocks noChangeAspect="1"/>
          </p:cNvPicPr>
          <p:nvPr/>
        </p:nvPicPr>
        <p:blipFill>
          <a:blip r:embed="rId5"/>
          <a:stretch>
            <a:fillRect/>
          </a:stretch>
        </p:blipFill>
        <p:spPr>
          <a:xfrm>
            <a:off x="3019496" y="1338896"/>
            <a:ext cx="2818296" cy="1886949"/>
          </a:xfrm>
          <a:prstGeom prst="rect">
            <a:avLst/>
          </a:prstGeom>
          <a:ln>
            <a:solidFill>
              <a:schemeClr val="tx1"/>
            </a:solidFill>
          </a:ln>
        </p:spPr>
      </p:pic>
      <p:pic>
        <p:nvPicPr>
          <p:cNvPr id="17" name="Picture 16">
            <a:extLst>
              <a:ext uri="{FF2B5EF4-FFF2-40B4-BE49-F238E27FC236}">
                <a16:creationId xmlns:a16="http://schemas.microsoft.com/office/drawing/2014/main" id="{60A3CB89-A9D2-AF97-533D-35D2E681C113}"/>
              </a:ext>
            </a:extLst>
          </p:cNvPr>
          <p:cNvPicPr>
            <a:picLocks noChangeAspect="1"/>
          </p:cNvPicPr>
          <p:nvPr/>
        </p:nvPicPr>
        <p:blipFill>
          <a:blip r:embed="rId6"/>
          <a:stretch>
            <a:fillRect/>
          </a:stretch>
        </p:blipFill>
        <p:spPr>
          <a:xfrm>
            <a:off x="251554" y="3730289"/>
            <a:ext cx="2760087" cy="1844800"/>
          </a:xfrm>
          <a:prstGeom prst="rect">
            <a:avLst/>
          </a:prstGeom>
          <a:ln>
            <a:solidFill>
              <a:schemeClr val="tx1"/>
            </a:solidFill>
          </a:ln>
        </p:spPr>
      </p:pic>
      <p:pic>
        <p:nvPicPr>
          <p:cNvPr id="24" name="Picture 23">
            <a:extLst>
              <a:ext uri="{FF2B5EF4-FFF2-40B4-BE49-F238E27FC236}">
                <a16:creationId xmlns:a16="http://schemas.microsoft.com/office/drawing/2014/main" id="{898C9B7E-F406-1990-1857-0BB11364AC06}"/>
              </a:ext>
            </a:extLst>
          </p:cNvPr>
          <p:cNvPicPr>
            <a:picLocks noChangeAspect="1"/>
          </p:cNvPicPr>
          <p:nvPr/>
        </p:nvPicPr>
        <p:blipFill>
          <a:blip r:embed="rId7"/>
          <a:stretch>
            <a:fillRect/>
          </a:stretch>
        </p:blipFill>
        <p:spPr>
          <a:xfrm>
            <a:off x="3032374" y="3730289"/>
            <a:ext cx="2760087" cy="1852726"/>
          </a:xfrm>
          <a:prstGeom prst="rect">
            <a:avLst/>
          </a:prstGeom>
          <a:ln>
            <a:solidFill>
              <a:schemeClr val="tx1"/>
            </a:solidFill>
          </a:ln>
        </p:spPr>
      </p:pic>
      <p:sp>
        <p:nvSpPr>
          <p:cNvPr id="25" name="TextBox 24">
            <a:extLst>
              <a:ext uri="{FF2B5EF4-FFF2-40B4-BE49-F238E27FC236}">
                <a16:creationId xmlns:a16="http://schemas.microsoft.com/office/drawing/2014/main" id="{D8A873D9-CD7E-8FDE-6198-B93772E33A63}"/>
              </a:ext>
            </a:extLst>
          </p:cNvPr>
          <p:cNvSpPr txBox="1"/>
          <p:nvPr/>
        </p:nvSpPr>
        <p:spPr>
          <a:xfrm>
            <a:off x="234538" y="962451"/>
            <a:ext cx="2769965" cy="369332"/>
          </a:xfrm>
          <a:prstGeom prst="rect">
            <a:avLst/>
          </a:prstGeom>
          <a:noFill/>
          <a:ln w="12700">
            <a:solidFill>
              <a:schemeClr val="tx1"/>
            </a:solidFill>
          </a:ln>
        </p:spPr>
        <p:txBody>
          <a:bodyPr wrap="square" rtlCol="0">
            <a:spAutoFit/>
          </a:bodyPr>
          <a:lstStyle/>
          <a:p>
            <a:pPr algn="ctr"/>
            <a:r>
              <a:rPr lang="es-ES"/>
              <a:t>Modo 0</a:t>
            </a:r>
          </a:p>
        </p:txBody>
      </p:sp>
      <p:sp>
        <p:nvSpPr>
          <p:cNvPr id="26" name="TextBox 25">
            <a:extLst>
              <a:ext uri="{FF2B5EF4-FFF2-40B4-BE49-F238E27FC236}">
                <a16:creationId xmlns:a16="http://schemas.microsoft.com/office/drawing/2014/main" id="{D2FE4532-4E85-B339-9BD3-33620E4FF1C4}"/>
              </a:ext>
            </a:extLst>
          </p:cNvPr>
          <p:cNvSpPr txBox="1"/>
          <p:nvPr/>
        </p:nvSpPr>
        <p:spPr>
          <a:xfrm>
            <a:off x="245115" y="3360957"/>
            <a:ext cx="2769965" cy="369332"/>
          </a:xfrm>
          <a:prstGeom prst="rect">
            <a:avLst/>
          </a:prstGeom>
          <a:noFill/>
          <a:ln w="12700">
            <a:solidFill>
              <a:schemeClr val="tx1"/>
            </a:solidFill>
          </a:ln>
        </p:spPr>
        <p:txBody>
          <a:bodyPr wrap="square" rtlCol="0">
            <a:spAutoFit/>
          </a:bodyPr>
          <a:lstStyle/>
          <a:p>
            <a:pPr algn="ctr"/>
            <a:r>
              <a:rPr lang="es-ES"/>
              <a:t>Modo 2</a:t>
            </a:r>
          </a:p>
        </p:txBody>
      </p:sp>
      <p:sp>
        <p:nvSpPr>
          <p:cNvPr id="27" name="TextBox 26">
            <a:extLst>
              <a:ext uri="{FF2B5EF4-FFF2-40B4-BE49-F238E27FC236}">
                <a16:creationId xmlns:a16="http://schemas.microsoft.com/office/drawing/2014/main" id="{73917CD9-8B32-61A6-A4A6-44219B133489}"/>
              </a:ext>
            </a:extLst>
          </p:cNvPr>
          <p:cNvSpPr txBox="1"/>
          <p:nvPr/>
        </p:nvSpPr>
        <p:spPr>
          <a:xfrm>
            <a:off x="3018080" y="962451"/>
            <a:ext cx="2819618" cy="369332"/>
          </a:xfrm>
          <a:prstGeom prst="rect">
            <a:avLst/>
          </a:prstGeom>
          <a:noFill/>
          <a:ln w="12700">
            <a:solidFill>
              <a:schemeClr val="tx1"/>
            </a:solidFill>
          </a:ln>
        </p:spPr>
        <p:txBody>
          <a:bodyPr wrap="square" rtlCol="0">
            <a:spAutoFit/>
          </a:bodyPr>
          <a:lstStyle/>
          <a:p>
            <a:pPr algn="ctr"/>
            <a:r>
              <a:rPr lang="es-ES"/>
              <a:t>Modo 1</a:t>
            </a:r>
          </a:p>
        </p:txBody>
      </p:sp>
      <p:sp>
        <p:nvSpPr>
          <p:cNvPr id="28" name="TextBox 27">
            <a:extLst>
              <a:ext uri="{FF2B5EF4-FFF2-40B4-BE49-F238E27FC236}">
                <a16:creationId xmlns:a16="http://schemas.microsoft.com/office/drawing/2014/main" id="{60A98505-5295-0C2B-CA91-5C8E2F23FEA7}"/>
              </a:ext>
            </a:extLst>
          </p:cNvPr>
          <p:cNvSpPr txBox="1"/>
          <p:nvPr/>
        </p:nvSpPr>
        <p:spPr>
          <a:xfrm>
            <a:off x="3025935" y="3352241"/>
            <a:ext cx="2773573" cy="369332"/>
          </a:xfrm>
          <a:prstGeom prst="rect">
            <a:avLst/>
          </a:prstGeom>
          <a:noFill/>
          <a:ln w="12700">
            <a:solidFill>
              <a:schemeClr val="tx1"/>
            </a:solidFill>
          </a:ln>
        </p:spPr>
        <p:txBody>
          <a:bodyPr wrap="square" rtlCol="0">
            <a:spAutoFit/>
          </a:bodyPr>
          <a:lstStyle/>
          <a:p>
            <a:pPr algn="ctr"/>
            <a:r>
              <a:rPr lang="es-ES"/>
              <a:t>Modo 3</a:t>
            </a:r>
          </a:p>
        </p:txBody>
      </p:sp>
      <p:pic>
        <p:nvPicPr>
          <p:cNvPr id="30" name="Picture 29">
            <a:extLst>
              <a:ext uri="{FF2B5EF4-FFF2-40B4-BE49-F238E27FC236}">
                <a16:creationId xmlns:a16="http://schemas.microsoft.com/office/drawing/2014/main" id="{C3F76827-3266-675D-9387-1392A10A12FB}"/>
              </a:ext>
            </a:extLst>
          </p:cNvPr>
          <p:cNvPicPr>
            <a:picLocks noChangeAspect="1"/>
          </p:cNvPicPr>
          <p:nvPr/>
        </p:nvPicPr>
        <p:blipFill>
          <a:blip r:embed="rId8"/>
          <a:stretch>
            <a:fillRect/>
          </a:stretch>
        </p:blipFill>
        <p:spPr>
          <a:xfrm>
            <a:off x="2614083" y="5721409"/>
            <a:ext cx="2142902" cy="618145"/>
          </a:xfrm>
          <a:prstGeom prst="rect">
            <a:avLst/>
          </a:prstGeom>
        </p:spPr>
      </p:pic>
      <p:sp>
        <p:nvSpPr>
          <p:cNvPr id="31" name="TextBox 30">
            <a:extLst>
              <a:ext uri="{FF2B5EF4-FFF2-40B4-BE49-F238E27FC236}">
                <a16:creationId xmlns:a16="http://schemas.microsoft.com/office/drawing/2014/main" id="{AD88B67F-FD8B-0301-BC00-927781093BD1}"/>
              </a:ext>
            </a:extLst>
          </p:cNvPr>
          <p:cNvSpPr txBox="1"/>
          <p:nvPr/>
        </p:nvSpPr>
        <p:spPr>
          <a:xfrm>
            <a:off x="1592145" y="5684665"/>
            <a:ext cx="1257290" cy="307777"/>
          </a:xfrm>
          <a:prstGeom prst="rect">
            <a:avLst/>
          </a:prstGeom>
          <a:noFill/>
          <a:ln w="12700">
            <a:noFill/>
          </a:ln>
        </p:spPr>
        <p:txBody>
          <a:bodyPr wrap="square" rtlCol="0">
            <a:spAutoFit/>
          </a:bodyPr>
          <a:lstStyle/>
          <a:p>
            <a:pPr algn="ctr"/>
            <a:r>
              <a:rPr lang="es-ES" sz="1400" err="1"/>
              <a:t>L_pi_TE</a:t>
            </a:r>
            <a:r>
              <a:rPr lang="es-ES" sz="1400"/>
              <a:t> =</a:t>
            </a:r>
          </a:p>
        </p:txBody>
      </p:sp>
      <p:sp>
        <p:nvSpPr>
          <p:cNvPr id="32" name="TextBox 31">
            <a:extLst>
              <a:ext uri="{FF2B5EF4-FFF2-40B4-BE49-F238E27FC236}">
                <a16:creationId xmlns:a16="http://schemas.microsoft.com/office/drawing/2014/main" id="{0DCDBF52-07D4-1CC6-C8F1-06B11FBE4182}"/>
              </a:ext>
            </a:extLst>
          </p:cNvPr>
          <p:cNvSpPr txBox="1"/>
          <p:nvPr/>
        </p:nvSpPr>
        <p:spPr>
          <a:xfrm>
            <a:off x="1592145" y="5960352"/>
            <a:ext cx="1257290" cy="307777"/>
          </a:xfrm>
          <a:prstGeom prst="rect">
            <a:avLst/>
          </a:prstGeom>
          <a:noFill/>
          <a:ln w="12700">
            <a:noFill/>
          </a:ln>
        </p:spPr>
        <p:txBody>
          <a:bodyPr wrap="square" rtlCol="0">
            <a:spAutoFit/>
          </a:bodyPr>
          <a:lstStyle/>
          <a:p>
            <a:pPr algn="ctr"/>
            <a:r>
              <a:rPr lang="es-ES" sz="1400" err="1"/>
              <a:t>L_pi_TM</a:t>
            </a:r>
            <a:r>
              <a:rPr lang="es-ES" sz="1400"/>
              <a:t> =</a:t>
            </a:r>
          </a:p>
        </p:txBody>
      </p:sp>
      <p:sp>
        <p:nvSpPr>
          <p:cNvPr id="33" name="CuadroTexto 1">
            <a:extLst>
              <a:ext uri="{FF2B5EF4-FFF2-40B4-BE49-F238E27FC236}">
                <a16:creationId xmlns:a16="http://schemas.microsoft.com/office/drawing/2014/main" id="{2F100E85-08E4-D942-71DD-6DA85846D9A9}"/>
              </a:ext>
            </a:extLst>
          </p:cNvPr>
          <p:cNvSpPr txBox="1"/>
          <p:nvPr/>
        </p:nvSpPr>
        <p:spPr>
          <a:xfrm>
            <a:off x="6095999" y="4861540"/>
            <a:ext cx="5844447"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400">
                <a:latin typeface="Arial" panose="020B0604020202020204" pitchFamily="34" charset="0"/>
                <a:cs typeface="Arial" panose="020B0604020202020204" pitchFamily="34" charset="0"/>
              </a:rPr>
              <a:t>La longitude de </a:t>
            </a:r>
            <a:r>
              <a:rPr lang="en-US" sz="1400" err="1">
                <a:latin typeface="Arial" panose="020B0604020202020204" pitchFamily="34" charset="0"/>
                <a:cs typeface="Arial" panose="020B0604020202020204" pitchFamily="34" charset="0"/>
              </a:rPr>
              <a:t>acoplamiento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representa</a:t>
            </a:r>
            <a:r>
              <a:rPr lang="en-US" sz="1400">
                <a:latin typeface="Arial" panose="020B0604020202020204" pitchFamily="34" charset="0"/>
                <a:cs typeface="Arial" panose="020B0604020202020204" pitchFamily="34" charset="0"/>
              </a:rPr>
              <a:t> la longitude minima de la region de </a:t>
            </a:r>
            <a:r>
              <a:rPr lang="en-US" sz="1400" err="1">
                <a:latin typeface="Arial" panose="020B0604020202020204" pitchFamily="34" charset="0"/>
                <a:cs typeface="Arial" panose="020B0604020202020204" pitchFamily="34" charset="0"/>
              </a:rPr>
              <a:t>acoplamiento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necesaria</a:t>
            </a:r>
            <a:r>
              <a:rPr lang="en-US" sz="1400">
                <a:latin typeface="Arial" panose="020B0604020202020204" pitchFamily="34" charset="0"/>
                <a:cs typeface="Arial" panose="020B0604020202020204" pitchFamily="34" charset="0"/>
              </a:rPr>
              <a:t> para </a:t>
            </a:r>
            <a:r>
              <a:rPr lang="en-US" sz="1400" err="1">
                <a:latin typeface="Arial" panose="020B0604020202020204" pitchFamily="34" charset="0"/>
                <a:cs typeface="Arial" panose="020B0604020202020204" pitchFamily="34" charset="0"/>
              </a:rPr>
              <a:t>transferir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toda</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potencia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óptica</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una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guía</a:t>
            </a:r>
            <a:r>
              <a:rPr lang="en-US" sz="1400">
                <a:latin typeface="Arial" panose="020B0604020202020204" pitchFamily="34" charset="0"/>
                <a:cs typeface="Arial" panose="020B0604020202020204" pitchFamily="34" charset="0"/>
              </a:rPr>
              <a:t> a </a:t>
            </a:r>
            <a:r>
              <a:rPr lang="en-US" sz="1400" err="1">
                <a:latin typeface="Arial" panose="020B0604020202020204" pitchFamily="34" charset="0"/>
                <a:cs typeface="Arial" panose="020B0604020202020204" pitchFamily="34" charset="0"/>
              </a:rPr>
              <a:t>otra</a:t>
            </a:r>
            <a:r>
              <a:rPr lang="en-US" sz="1400">
                <a:latin typeface="Arial" panose="020B0604020202020204" pitchFamily="34" charset="0"/>
                <a:cs typeface="Arial" panose="020B0604020202020204" pitchFamily="34" charset="0"/>
              </a:rPr>
              <a:t>. Los </a:t>
            </a:r>
            <a:r>
              <a:rPr lang="en-US" sz="1400" err="1">
                <a:latin typeface="Arial" panose="020B0604020202020204" pitchFamily="34" charset="0"/>
                <a:cs typeface="Arial" panose="020B0604020202020204" pitchFamily="34" charset="0"/>
              </a:rPr>
              <a:t>resultados</a:t>
            </a:r>
            <a:r>
              <a:rPr lang="en-US" sz="1400">
                <a:latin typeface="Arial" panose="020B0604020202020204" pitchFamily="34" charset="0"/>
                <a:cs typeface="Arial" panose="020B0604020202020204" pitchFamily="34" charset="0"/>
              </a:rPr>
              <a:t> son </a:t>
            </a:r>
            <a:r>
              <a:rPr lang="en-US" sz="1400" err="1">
                <a:latin typeface="Arial" panose="020B0604020202020204" pitchFamily="34" charset="0"/>
                <a:cs typeface="Arial" panose="020B0604020202020204" pitchFamily="34" charset="0"/>
              </a:rPr>
              <a:t>consecuentes</a:t>
            </a:r>
            <a:r>
              <a:rPr lang="en-US" sz="1400">
                <a:latin typeface="Arial" panose="020B0604020202020204" pitchFamily="34" charset="0"/>
                <a:cs typeface="Arial" panose="020B0604020202020204" pitchFamily="34" charset="0"/>
              </a:rPr>
              <a:t> con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plots de campo: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modos</a:t>
            </a:r>
            <a:r>
              <a:rPr lang="en-US" sz="1400">
                <a:latin typeface="Arial" panose="020B0604020202020204" pitchFamily="34" charset="0"/>
                <a:cs typeface="Arial" panose="020B0604020202020204" pitchFamily="34" charset="0"/>
              </a:rPr>
              <a:t> TM </a:t>
            </a:r>
            <a:r>
              <a:rPr lang="en-US" sz="1400" err="1">
                <a:latin typeface="Arial" panose="020B0604020202020204" pitchFamily="34" charset="0"/>
                <a:cs typeface="Arial" panose="020B0604020202020204" pitchFamily="34" charset="0"/>
              </a:rPr>
              <a:t>presentan</a:t>
            </a:r>
            <a:r>
              <a:rPr lang="en-US" sz="1400">
                <a:latin typeface="Arial" panose="020B0604020202020204" pitchFamily="34" charset="0"/>
                <a:cs typeface="Arial" panose="020B0604020202020204" pitchFamily="34" charset="0"/>
              </a:rPr>
              <a:t> mayor extension </a:t>
            </a:r>
            <a:r>
              <a:rPr lang="en-US" sz="1400" err="1">
                <a:latin typeface="Arial" panose="020B0604020202020204" pitchFamily="34" charset="0"/>
                <a:cs typeface="Arial" panose="020B0604020202020204" pitchFamily="34" charset="0"/>
              </a:rPr>
              <a:t>evanescente</a:t>
            </a:r>
            <a:r>
              <a:rPr lang="en-US" sz="1400">
                <a:latin typeface="Arial" panose="020B0604020202020204" pitchFamily="34" charset="0"/>
                <a:cs typeface="Arial" panose="020B0604020202020204" pitchFamily="34" charset="0"/>
              </a:rPr>
              <a:t> fuera del </a:t>
            </a:r>
            <a:r>
              <a:rPr lang="en-US" sz="1400" err="1">
                <a:latin typeface="Arial" panose="020B0604020202020204" pitchFamily="34" charset="0"/>
                <a:cs typeface="Arial" panose="020B0604020202020204" pitchFamily="34" charset="0"/>
              </a:rPr>
              <a:t>núcleo</a:t>
            </a:r>
            <a:r>
              <a:rPr lang="en-US" sz="1400">
                <a:latin typeface="Arial" panose="020B0604020202020204" pitchFamily="34" charset="0"/>
                <a:cs typeface="Arial" panose="020B0604020202020204" pitchFamily="34" charset="0"/>
              </a:rPr>
              <a:t>, lo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intensifica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acoplamiento</a:t>
            </a:r>
            <a:r>
              <a:rPr lang="en-US" sz="1400">
                <a:latin typeface="Arial" panose="020B0604020202020204" pitchFamily="34" charset="0"/>
                <a:cs typeface="Arial" panose="020B0604020202020204" pitchFamily="34" charset="0"/>
              </a:rPr>
              <a:t> entre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y reduce la </a:t>
            </a:r>
            <a:r>
              <a:rPr lang="en-US" sz="1400" err="1">
                <a:latin typeface="Arial" panose="020B0604020202020204" pitchFamily="34" charset="0"/>
                <a:cs typeface="Arial" panose="020B0604020202020204" pitchFamily="34" charset="0"/>
              </a:rPr>
              <a:t>distancia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necesaria</a:t>
            </a:r>
            <a:r>
              <a:rPr lang="en-US" sz="1400">
                <a:latin typeface="Arial" panose="020B0604020202020204" pitchFamily="34" charset="0"/>
                <a:cs typeface="Arial" panose="020B0604020202020204" pitchFamily="34" charset="0"/>
              </a:rPr>
              <a:t> para la </a:t>
            </a:r>
            <a:r>
              <a:rPr lang="en-US" sz="1400" err="1">
                <a:latin typeface="Arial" panose="020B0604020202020204" pitchFamily="34" charset="0"/>
                <a:cs typeface="Arial" panose="020B0604020202020204" pitchFamily="34" charset="0"/>
              </a:rPr>
              <a:t>transferencia</a:t>
            </a:r>
            <a:r>
              <a:rPr lang="en-US" sz="1400">
                <a:latin typeface="Arial" panose="020B0604020202020204" pitchFamily="34" charset="0"/>
                <a:cs typeface="Arial" panose="020B0604020202020204" pitchFamily="34" charset="0"/>
              </a:rPr>
              <a:t> completa de </a:t>
            </a:r>
            <a:r>
              <a:rPr lang="en-US" sz="1400" err="1">
                <a:latin typeface="Arial" panose="020B0604020202020204" pitchFamily="34" charset="0"/>
                <a:cs typeface="Arial" panose="020B0604020202020204" pitchFamily="34" charset="0"/>
              </a:rPr>
              <a:t>potencia</a:t>
            </a:r>
            <a:r>
              <a:rPr lang="en-US" sz="14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96715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152401" y="162195"/>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Directional coupler length and coupling coefficient</a:t>
            </a:r>
            <a:br>
              <a:rPr lang="en-US" sz="2500" spc="-5">
                <a:latin typeface="+mj-lt"/>
                <a:cs typeface="Lucida Sans"/>
              </a:rPr>
            </a:br>
            <a:r>
              <a:rPr lang="en-US" b="0"/>
              <a:t>Wavelength 1.5 µm – width 1.2 µm – gap 0.6 µm – thickness 300 nm</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96684" y="4668609"/>
            <a:ext cx="11036588"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El </a:t>
            </a:r>
            <a:r>
              <a:rPr lang="en-US" sz="1200" err="1">
                <a:latin typeface="Arial" panose="020B0604020202020204" pitchFamily="34" charset="0"/>
                <a:cs typeface="Arial" panose="020B0604020202020204" pitchFamily="34" charset="0"/>
              </a:rPr>
              <a:t>coeficiente</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acoplamiento</a:t>
            </a:r>
            <a:r>
              <a:rPr lang="en-US" sz="1200">
                <a:latin typeface="Arial" panose="020B0604020202020204" pitchFamily="34" charset="0"/>
                <a:cs typeface="Arial" panose="020B0604020202020204" pitchFamily="34" charset="0"/>
              </a:rPr>
              <a:t> K describe la </a:t>
            </a:r>
            <a:r>
              <a:rPr lang="en-US" sz="1200" err="1">
                <a:latin typeface="Arial" panose="020B0604020202020204" pitchFamily="34" charset="0"/>
                <a:cs typeface="Arial" panose="020B0604020202020204" pitchFamily="34" charset="0"/>
              </a:rPr>
              <a:t>fracción</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potencia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transferida</a:t>
            </a:r>
            <a:r>
              <a:rPr lang="en-US" sz="1200">
                <a:latin typeface="Arial" panose="020B0604020202020204" pitchFamily="34" charset="0"/>
                <a:cs typeface="Arial" panose="020B0604020202020204" pitchFamily="34" charset="0"/>
              </a:rPr>
              <a:t> a la </a:t>
            </a:r>
            <a:r>
              <a:rPr lang="en-US" sz="1200" err="1">
                <a:latin typeface="Arial" panose="020B0604020202020204" pitchFamily="34" charset="0"/>
                <a:cs typeface="Arial" panose="020B0604020202020204" pitchFamily="34" charset="0"/>
              </a:rPr>
              <a:t>guía</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salida</a:t>
            </a:r>
            <a:r>
              <a:rPr lang="en-US" sz="1200">
                <a:latin typeface="Arial" panose="020B0604020202020204" pitchFamily="34" charset="0"/>
                <a:cs typeface="Arial" panose="020B0604020202020204" pitchFamily="34" charset="0"/>
              </a:rPr>
              <a:t> en </a:t>
            </a:r>
            <a:r>
              <a:rPr lang="en-US" sz="1200" err="1">
                <a:latin typeface="Arial" panose="020B0604020202020204" pitchFamily="34" charset="0"/>
                <a:cs typeface="Arial" panose="020B0604020202020204" pitchFamily="34" charset="0"/>
              </a:rPr>
              <a:t>función</a:t>
            </a:r>
            <a:r>
              <a:rPr lang="en-US" sz="1200">
                <a:latin typeface="Arial" panose="020B0604020202020204" pitchFamily="34" charset="0"/>
                <a:cs typeface="Arial" panose="020B0604020202020204" pitchFamily="34" charset="0"/>
              </a:rPr>
              <a:t> de la longitude </a:t>
            </a:r>
            <a:r>
              <a:rPr lang="en-US" sz="1200" err="1">
                <a:latin typeface="Arial" panose="020B0604020202020204" pitchFamily="34" charset="0"/>
                <a:cs typeface="Arial" panose="020B0604020202020204" pitchFamily="34" charset="0"/>
              </a:rPr>
              <a:t>física</a:t>
            </a:r>
            <a:r>
              <a:rPr lang="en-US" sz="1200">
                <a:latin typeface="Arial" panose="020B0604020202020204" pitchFamily="34" charset="0"/>
                <a:cs typeface="Arial" panose="020B0604020202020204" pitchFamily="34" charset="0"/>
              </a:rPr>
              <a:t> de la region de </a:t>
            </a:r>
            <a:r>
              <a:rPr lang="en-US" sz="1200" err="1">
                <a:latin typeface="Arial" panose="020B0604020202020204" pitchFamily="34" charset="0"/>
                <a:cs typeface="Arial" panose="020B0604020202020204" pitchFamily="34" charset="0"/>
              </a:rPr>
              <a:t>acoplamiento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normalizada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por</a:t>
            </a:r>
            <a:r>
              <a:rPr lang="en-US" sz="1200">
                <a:latin typeface="Arial" panose="020B0604020202020204" pitchFamily="34" charset="0"/>
                <a:cs typeface="Arial" panose="020B0604020202020204" pitchFamily="34" charset="0"/>
              </a:rPr>
              <a:t> la “beating length” </a:t>
            </a:r>
            <a:r>
              <a:rPr lang="en-US" sz="1200" err="1">
                <a:latin typeface="Arial" panose="020B0604020202020204" pitchFamily="34" charset="0"/>
                <a:cs typeface="Arial" panose="020B0604020202020204" pitchFamily="34" charset="0"/>
              </a:rPr>
              <a:t>L_pi</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TE se </a:t>
            </a:r>
            <a:r>
              <a:rPr lang="en-US" sz="1200" err="1">
                <a:latin typeface="Arial" panose="020B0604020202020204" pitchFamily="34" charset="0"/>
                <a:cs typeface="Arial" panose="020B0604020202020204" pitchFamily="34" charset="0"/>
              </a:rPr>
              <a:t>obtiene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L_pi_TE</a:t>
            </a:r>
            <a:r>
              <a:rPr lang="en-US" sz="1200">
                <a:latin typeface="Arial" panose="020B0604020202020204" pitchFamily="34" charset="0"/>
                <a:cs typeface="Arial" panose="020B0604020202020204" pitchFamily="34" charset="0"/>
              </a:rPr>
              <a:t>= 90,81 um. La </a:t>
            </a:r>
            <a:r>
              <a:rPr lang="en-US" sz="1200" err="1">
                <a:latin typeface="Arial" panose="020B0604020202020204" pitchFamily="34" charset="0"/>
                <a:cs typeface="Arial" panose="020B0604020202020204" pitchFamily="34" charset="0"/>
              </a:rPr>
              <a:t>gráfica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muestra</a:t>
            </a:r>
            <a:r>
              <a:rPr lang="en-US" sz="1200">
                <a:latin typeface="Arial" panose="020B0604020202020204" pitchFamily="34" charset="0"/>
                <a:cs typeface="Arial" panose="020B0604020202020204" pitchFamily="34" charset="0"/>
              </a:rPr>
              <a:t> un </a:t>
            </a:r>
            <a:r>
              <a:rPr lang="en-US" sz="1200" err="1">
                <a:latin typeface="Arial" panose="020B0604020202020204" pitchFamily="34" charset="0"/>
                <a:cs typeface="Arial" panose="020B0604020202020204" pitchFamily="34" charset="0"/>
              </a:rPr>
              <a:t>único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ciclo</a:t>
            </a:r>
            <a:r>
              <a:rPr lang="en-US" sz="1200">
                <a:latin typeface="Arial" panose="020B0604020202020204" pitchFamily="34" charset="0"/>
                <a:cs typeface="Arial" panose="020B0604020202020204" pitchFamily="34" charset="0"/>
              </a:rPr>
              <a:t> complete, con </a:t>
            </a:r>
            <a:r>
              <a:rPr lang="en-US" sz="1200" err="1">
                <a:latin typeface="Arial" panose="020B0604020202020204" pitchFamily="34" charset="0"/>
                <a:cs typeface="Arial" panose="020B0604020202020204" pitchFamily="34" charset="0"/>
              </a:rPr>
              <a:t>transferencia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máxima</a:t>
            </a:r>
            <a:r>
              <a:rPr lang="en-US" sz="1200">
                <a:latin typeface="Arial" panose="020B0604020202020204" pitchFamily="34" charset="0"/>
                <a:cs typeface="Arial" panose="020B0604020202020204" pitchFamily="34" charset="0"/>
              </a:rPr>
              <a:t> en L = </a:t>
            </a:r>
            <a:r>
              <a:rPr lang="en-US" sz="1200" err="1">
                <a:latin typeface="Arial" panose="020B0604020202020204" pitchFamily="34" charset="0"/>
                <a:cs typeface="Arial" panose="020B0604020202020204" pitchFamily="34" charset="0"/>
              </a:rPr>
              <a:t>L_pi</a:t>
            </a:r>
            <a:r>
              <a:rPr lang="en-US" sz="1200">
                <a:latin typeface="Arial" panose="020B0604020202020204" pitchFamily="34" charset="0"/>
                <a:cs typeface="Arial" panose="020B0604020202020204" pitchFamily="34" charset="0"/>
              </a:rPr>
              <a:t> y </a:t>
            </a:r>
            <a:r>
              <a:rPr lang="en-US" sz="1200" err="1">
                <a:latin typeface="Arial" panose="020B0604020202020204" pitchFamily="34" charset="0"/>
                <a:cs typeface="Arial" panose="020B0604020202020204" pitchFamily="34" charset="0"/>
              </a:rPr>
              <a:t>retorno</a:t>
            </a:r>
            <a:r>
              <a:rPr lang="en-US" sz="1200">
                <a:latin typeface="Arial" panose="020B0604020202020204" pitchFamily="34" charset="0"/>
                <a:cs typeface="Arial" panose="020B0604020202020204" pitchFamily="34" charset="0"/>
              </a:rPr>
              <a:t> a cero en L = 2*</a:t>
            </a:r>
            <a:r>
              <a:rPr lang="en-US" sz="1200" err="1">
                <a:latin typeface="Arial" panose="020B0604020202020204" pitchFamily="34" charset="0"/>
                <a:cs typeface="Arial" panose="020B0604020202020204" pitchFamily="34" charset="0"/>
              </a:rPr>
              <a:t>L_pi</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TM, se </a:t>
            </a:r>
            <a:r>
              <a:rPr lang="en-US" sz="1200" err="1">
                <a:latin typeface="Arial" panose="020B0604020202020204" pitchFamily="34" charset="0"/>
                <a:cs typeface="Arial" panose="020B0604020202020204" pitchFamily="34" charset="0"/>
              </a:rPr>
              <a:t>obtiene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L_pi_TM</a:t>
            </a:r>
            <a:r>
              <a:rPr lang="en-US" sz="1200">
                <a:latin typeface="Arial" panose="020B0604020202020204" pitchFamily="34" charset="0"/>
                <a:cs typeface="Arial" panose="020B0604020202020204" pitchFamily="34" charset="0"/>
              </a:rPr>
              <a:t> = 50.57 um, un valor </a:t>
            </a:r>
            <a:r>
              <a:rPr lang="en-US" sz="1200" err="1">
                <a:latin typeface="Arial" panose="020B0604020202020204" pitchFamily="34" charset="0"/>
                <a:cs typeface="Arial" panose="020B0604020202020204" pitchFamily="34" charset="0"/>
              </a:rPr>
              <a:t>menor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debeido</a:t>
            </a:r>
            <a:r>
              <a:rPr lang="en-US" sz="1200">
                <a:latin typeface="Arial" panose="020B0604020202020204" pitchFamily="34" charset="0"/>
                <a:cs typeface="Arial" panose="020B0604020202020204" pitchFamily="34" charset="0"/>
              </a:rPr>
              <a:t> a la mayor </a:t>
            </a:r>
            <a:r>
              <a:rPr lang="en-US" sz="1200" err="1">
                <a:latin typeface="Arial" panose="020B0604020202020204" pitchFamily="34" charset="0"/>
                <a:cs typeface="Arial" panose="020B0604020202020204" pitchFamily="34" charset="0"/>
              </a:rPr>
              <a:t>diferencia</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índices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efectivos</a:t>
            </a:r>
            <a:r>
              <a:rPr lang="en-US" sz="1200">
                <a:latin typeface="Arial" panose="020B0604020202020204" pitchFamily="34" charset="0"/>
                <a:cs typeface="Arial" panose="020B0604020202020204" pitchFamily="34" charset="0"/>
              </a:rPr>
              <a:t> entre </a:t>
            </a:r>
            <a:r>
              <a:rPr lang="en-US" sz="1200" err="1">
                <a:latin typeface="Arial" panose="020B0604020202020204" pitchFamily="34" charset="0"/>
                <a:cs typeface="Arial" panose="020B0604020202020204" pitchFamily="34" charset="0"/>
              </a:rPr>
              <a:t>supermodos</a:t>
            </a:r>
            <a:r>
              <a:rPr lang="en-US" sz="1200">
                <a:latin typeface="Arial" panose="020B0604020202020204" pitchFamily="34" charset="0"/>
                <a:cs typeface="Arial" panose="020B0604020202020204" pitchFamily="34" charset="0"/>
              </a:rPr>
              <a:t>. </a:t>
            </a:r>
            <a:r>
              <a:rPr lang="es-ES" sz="1200">
                <a:latin typeface="Arial" panose="020B0604020202020204" pitchFamily="34" charset="0"/>
                <a:cs typeface="Arial" panose="020B0604020202020204" pitchFamily="34" charset="0"/>
              </a:rPr>
              <a:t>La gráfica TM se representa en un rango extendido para ilustrar explícitamente esta periodicidad y mostrar dos ciclos completos de transferencia de potencia.</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Para el diseño de un divisor 50/50, se requiere K = 0.5, que corresponde a L = </a:t>
            </a:r>
            <a:r>
              <a:rPr lang="es-ES" sz="1200" err="1">
                <a:latin typeface="Arial" panose="020B0604020202020204" pitchFamily="34" charset="0"/>
                <a:cs typeface="Arial" panose="020B0604020202020204" pitchFamily="34" charset="0"/>
              </a:rPr>
              <a:t>L_pi</a:t>
            </a:r>
            <a:r>
              <a:rPr lang="es-ES" sz="1200">
                <a:latin typeface="Arial" panose="020B0604020202020204" pitchFamily="34" charset="0"/>
                <a:cs typeface="Arial" panose="020B0604020202020204" pitchFamily="34" charset="0"/>
              </a:rPr>
              <a:t>/2.</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49038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609441" y="2636428"/>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L/</a:t>
            </a:r>
            <a:r>
              <a:rPr lang="en-US" err="1"/>
              <a:t>Lpi</a:t>
            </a:r>
            <a:r>
              <a:rPr lang="en-US"/>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11640" y="535777"/>
            <a:ext cx="2432518" cy="707243"/>
          </a:xfrm>
          <a:prstGeom prst="rect">
            <a:avLst/>
          </a:prstGeom>
        </p:spPr>
      </p:pic>
      <p:pic>
        <p:nvPicPr>
          <p:cNvPr id="9" name="Imagen 8">
            <a:extLst>
              <a:ext uri="{FF2B5EF4-FFF2-40B4-BE49-F238E27FC236}">
                <a16:creationId xmlns:a16="http://schemas.microsoft.com/office/drawing/2014/main" id="{8A8DC3C7-2C23-FA2A-1F8A-748187C91BB0}"/>
              </a:ext>
            </a:extLst>
          </p:cNvPr>
          <p:cNvPicPr>
            <a:picLocks noChangeAspect="1"/>
          </p:cNvPicPr>
          <p:nvPr/>
        </p:nvPicPr>
        <p:blipFill>
          <a:blip r:embed="rId5"/>
          <a:stretch>
            <a:fillRect/>
          </a:stretch>
        </p:blipFill>
        <p:spPr>
          <a:xfrm>
            <a:off x="1610666" y="1583298"/>
            <a:ext cx="3809628" cy="3029594"/>
          </a:xfrm>
          <a:prstGeom prst="rect">
            <a:avLst/>
          </a:prstGeom>
        </p:spPr>
      </p:pic>
      <p:pic>
        <p:nvPicPr>
          <p:cNvPr id="11" name="Imagen 10">
            <a:extLst>
              <a:ext uri="{FF2B5EF4-FFF2-40B4-BE49-F238E27FC236}">
                <a16:creationId xmlns:a16="http://schemas.microsoft.com/office/drawing/2014/main" id="{D1B20BC5-FFFE-8A98-6EB9-F2A30FAB7776}"/>
              </a:ext>
            </a:extLst>
          </p:cNvPr>
          <p:cNvPicPr>
            <a:picLocks noChangeAspect="1"/>
          </p:cNvPicPr>
          <p:nvPr/>
        </p:nvPicPr>
        <p:blipFill>
          <a:blip r:embed="rId6"/>
          <a:stretch>
            <a:fillRect/>
          </a:stretch>
        </p:blipFill>
        <p:spPr>
          <a:xfrm>
            <a:off x="6904092" y="1583297"/>
            <a:ext cx="3809628" cy="3029595"/>
          </a:xfrm>
          <a:prstGeom prst="rect">
            <a:avLst/>
          </a:prstGeom>
        </p:spPr>
      </p:pic>
      <p:sp>
        <p:nvSpPr>
          <p:cNvPr id="5" name="TextBox 4">
            <a:extLst>
              <a:ext uri="{FF2B5EF4-FFF2-40B4-BE49-F238E27FC236}">
                <a16:creationId xmlns:a16="http://schemas.microsoft.com/office/drawing/2014/main" id="{19E2E0B3-C5BB-BD2C-F11D-1245EEACB13B}"/>
              </a:ext>
            </a:extLst>
          </p:cNvPr>
          <p:cNvSpPr txBox="1"/>
          <p:nvPr/>
        </p:nvSpPr>
        <p:spPr>
          <a:xfrm>
            <a:off x="4301776" y="2046379"/>
            <a:ext cx="854299" cy="413658"/>
          </a:xfrm>
          <a:prstGeom prst="rect">
            <a:avLst/>
          </a:prstGeom>
          <a:noFill/>
          <a:ln w="28575">
            <a:solidFill>
              <a:schemeClr val="tx1"/>
            </a:solidFill>
          </a:ln>
        </p:spPr>
        <p:txBody>
          <a:bodyPr wrap="square" rtlCol="0">
            <a:spAutoFit/>
          </a:bodyPr>
          <a:lstStyle/>
          <a:p>
            <a:pPr algn="ctr"/>
            <a:r>
              <a:rPr lang="es-ES" sz="2000" b="1"/>
              <a:t>TE</a:t>
            </a:r>
          </a:p>
        </p:txBody>
      </p:sp>
      <p:sp>
        <p:nvSpPr>
          <p:cNvPr id="10" name="TextBox 9">
            <a:extLst>
              <a:ext uri="{FF2B5EF4-FFF2-40B4-BE49-F238E27FC236}">
                <a16:creationId xmlns:a16="http://schemas.microsoft.com/office/drawing/2014/main" id="{7365742A-B55E-8961-1D0B-0483856A2E67}"/>
              </a:ext>
            </a:extLst>
          </p:cNvPr>
          <p:cNvSpPr txBox="1"/>
          <p:nvPr/>
        </p:nvSpPr>
        <p:spPr>
          <a:xfrm>
            <a:off x="9673600" y="3760863"/>
            <a:ext cx="854299" cy="413658"/>
          </a:xfrm>
          <a:prstGeom prst="rect">
            <a:avLst/>
          </a:prstGeom>
          <a:noFill/>
          <a:ln w="28575">
            <a:solidFill>
              <a:schemeClr val="tx1"/>
            </a:solidFill>
          </a:ln>
        </p:spPr>
        <p:txBody>
          <a:bodyPr wrap="square" rtlCol="0">
            <a:spAutoFit/>
          </a:bodyPr>
          <a:lstStyle/>
          <a:p>
            <a:pPr algn="ctr"/>
            <a:r>
              <a:rPr lang="es-ES" sz="2000" b="1"/>
              <a:t>TM</a:t>
            </a:r>
          </a:p>
        </p:txBody>
      </p:sp>
    </p:spTree>
    <p:extLst>
      <p:ext uri="{BB962C8B-B14F-4D97-AF65-F5344CB8AC3E}">
        <p14:creationId xmlns:p14="http://schemas.microsoft.com/office/powerpoint/2010/main" val="36636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2"/>
            <a:ext cx="11199971" cy="493607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718457" y="2462478"/>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plots and output text here</a:t>
            </a:r>
          </a:p>
        </p:txBody>
      </p:sp>
      <p:pic>
        <p:nvPicPr>
          <p:cNvPr id="5" name="Picture 4">
            <a:extLst>
              <a:ext uri="{FF2B5EF4-FFF2-40B4-BE49-F238E27FC236}">
                <a16:creationId xmlns:a16="http://schemas.microsoft.com/office/drawing/2014/main" id="{875763CC-EC2C-5940-713D-894BB5ECBB52}"/>
              </a:ext>
            </a:extLst>
          </p:cNvPr>
          <p:cNvPicPr>
            <a:picLocks noChangeAspect="1"/>
          </p:cNvPicPr>
          <p:nvPr/>
        </p:nvPicPr>
        <p:blipFill>
          <a:blip r:embed="rId4"/>
          <a:stretch>
            <a:fillRect/>
          </a:stretch>
        </p:blipFill>
        <p:spPr>
          <a:xfrm>
            <a:off x="711293" y="1518416"/>
            <a:ext cx="6462393" cy="2642146"/>
          </a:xfrm>
          <a:prstGeom prst="rect">
            <a:avLst/>
          </a:prstGeom>
          <a:ln w="38100">
            <a:solidFill>
              <a:schemeClr val="accent1"/>
            </a:solidFill>
          </a:ln>
        </p:spPr>
      </p:pic>
      <p:pic>
        <p:nvPicPr>
          <p:cNvPr id="6" name="Picture 5">
            <a:extLst>
              <a:ext uri="{FF2B5EF4-FFF2-40B4-BE49-F238E27FC236}">
                <a16:creationId xmlns:a16="http://schemas.microsoft.com/office/drawing/2014/main" id="{28D6D93A-885B-854E-52D7-16D1030D0384}"/>
              </a:ext>
            </a:extLst>
          </p:cNvPr>
          <p:cNvPicPr>
            <a:picLocks noChangeAspect="1"/>
          </p:cNvPicPr>
          <p:nvPr/>
        </p:nvPicPr>
        <p:blipFill>
          <a:blip r:embed="rId5"/>
          <a:stretch>
            <a:fillRect/>
          </a:stretch>
        </p:blipFill>
        <p:spPr>
          <a:xfrm>
            <a:off x="7939163" y="1570004"/>
            <a:ext cx="2926860" cy="2266303"/>
          </a:xfrm>
          <a:prstGeom prst="rect">
            <a:avLst/>
          </a:prstGeom>
          <a:ln w="38100">
            <a:solidFill>
              <a:schemeClr val="tx2">
                <a:lumMod val="40000"/>
                <a:lumOff val="60000"/>
              </a:schemeClr>
            </a:solidFill>
          </a:ln>
        </p:spPr>
      </p:pic>
      <p:sp>
        <p:nvSpPr>
          <p:cNvPr id="9" name="TextBox 8">
            <a:extLst>
              <a:ext uri="{FF2B5EF4-FFF2-40B4-BE49-F238E27FC236}">
                <a16:creationId xmlns:a16="http://schemas.microsoft.com/office/drawing/2014/main" id="{BD9A1865-6911-9CC6-C33D-B5DFC4509C0F}"/>
              </a:ext>
            </a:extLst>
          </p:cNvPr>
          <p:cNvSpPr txBox="1"/>
          <p:nvPr/>
        </p:nvSpPr>
        <p:spPr>
          <a:xfrm>
            <a:off x="9111343" y="104502"/>
            <a:ext cx="2698069" cy="584775"/>
          </a:xfrm>
          <a:prstGeom prst="rect">
            <a:avLst/>
          </a:prstGeom>
          <a:noFill/>
          <a:ln w="38100">
            <a:solidFill>
              <a:schemeClr val="accent1"/>
            </a:solidFill>
          </a:ln>
        </p:spPr>
        <p:txBody>
          <a:bodyPr wrap="square" rtlCol="0">
            <a:spAutoFit/>
          </a:bodyPr>
          <a:lstStyle/>
          <a:p>
            <a:pPr algn="ctr"/>
            <a:r>
              <a:rPr lang="es-ES" sz="3200" b="1"/>
              <a:t>GAP = 0.2 </a:t>
            </a:r>
            <a:r>
              <a:rPr lang="es-ES" sz="3200" b="1" err="1"/>
              <a:t>um</a:t>
            </a:r>
            <a:endParaRPr lang="es-ES" sz="3200" b="1"/>
          </a:p>
        </p:txBody>
      </p:sp>
      <p:pic>
        <p:nvPicPr>
          <p:cNvPr id="10" name="Picture 9">
            <a:extLst>
              <a:ext uri="{FF2B5EF4-FFF2-40B4-BE49-F238E27FC236}">
                <a16:creationId xmlns:a16="http://schemas.microsoft.com/office/drawing/2014/main" id="{F273BF84-30C6-BF25-1E3B-9CD61E8E9D9E}"/>
              </a:ext>
            </a:extLst>
          </p:cNvPr>
          <p:cNvPicPr>
            <a:picLocks noChangeAspect="1"/>
          </p:cNvPicPr>
          <p:nvPr/>
        </p:nvPicPr>
        <p:blipFill>
          <a:blip r:embed="rId6"/>
          <a:stretch>
            <a:fillRect/>
          </a:stretch>
        </p:blipFill>
        <p:spPr>
          <a:xfrm>
            <a:off x="711293" y="4279988"/>
            <a:ext cx="6462393" cy="2002135"/>
          </a:xfrm>
          <a:prstGeom prst="rect">
            <a:avLst/>
          </a:prstGeom>
          <a:ln w="38100">
            <a:solidFill>
              <a:srgbClr val="00B050"/>
            </a:solidFill>
          </a:ln>
        </p:spPr>
      </p:pic>
      <p:pic>
        <p:nvPicPr>
          <p:cNvPr id="11" name="Picture 10">
            <a:extLst>
              <a:ext uri="{FF2B5EF4-FFF2-40B4-BE49-F238E27FC236}">
                <a16:creationId xmlns:a16="http://schemas.microsoft.com/office/drawing/2014/main" id="{E8052F79-8DBE-43DE-F04B-866562E46DC5}"/>
              </a:ext>
            </a:extLst>
          </p:cNvPr>
          <p:cNvPicPr>
            <a:picLocks noChangeAspect="1"/>
          </p:cNvPicPr>
          <p:nvPr/>
        </p:nvPicPr>
        <p:blipFill>
          <a:blip r:embed="rId7"/>
          <a:stretch>
            <a:fillRect/>
          </a:stretch>
        </p:blipFill>
        <p:spPr>
          <a:xfrm>
            <a:off x="7939163" y="4104118"/>
            <a:ext cx="2926860" cy="2178005"/>
          </a:xfrm>
          <a:prstGeom prst="rect">
            <a:avLst/>
          </a:prstGeom>
          <a:ln w="38100">
            <a:solidFill>
              <a:srgbClr val="00B050"/>
            </a:solidFill>
          </a:ln>
        </p:spPr>
      </p:pic>
      <p:sp>
        <p:nvSpPr>
          <p:cNvPr id="12" name="TextBox 11">
            <a:extLst>
              <a:ext uri="{FF2B5EF4-FFF2-40B4-BE49-F238E27FC236}">
                <a16:creationId xmlns:a16="http://schemas.microsoft.com/office/drawing/2014/main" id="{C87469FD-96B9-B861-71ED-36AD833580C4}"/>
              </a:ext>
            </a:extLst>
          </p:cNvPr>
          <p:cNvSpPr txBox="1"/>
          <p:nvPr/>
        </p:nvSpPr>
        <p:spPr>
          <a:xfrm>
            <a:off x="9111343" y="766880"/>
            <a:ext cx="2698069" cy="584775"/>
          </a:xfrm>
          <a:prstGeom prst="rect">
            <a:avLst/>
          </a:prstGeom>
          <a:noFill/>
          <a:ln w="38100">
            <a:solidFill>
              <a:srgbClr val="00B050"/>
            </a:solidFill>
          </a:ln>
        </p:spPr>
        <p:txBody>
          <a:bodyPr wrap="square" rtlCol="0">
            <a:spAutoFit/>
          </a:bodyPr>
          <a:lstStyle/>
          <a:p>
            <a:pPr algn="ctr"/>
            <a:r>
              <a:rPr lang="es-ES" sz="3200" b="1"/>
              <a:t>GAP = 0.4 </a:t>
            </a:r>
            <a:r>
              <a:rPr lang="es-ES" sz="3200" b="1" err="1"/>
              <a:t>um</a:t>
            </a:r>
            <a:endParaRPr lang="es-ES" sz="3200" b="1"/>
          </a:p>
        </p:txBody>
      </p:sp>
      <p:cxnSp>
        <p:nvCxnSpPr>
          <p:cNvPr id="14" name="Straight Arrow Connector 13">
            <a:extLst>
              <a:ext uri="{FF2B5EF4-FFF2-40B4-BE49-F238E27FC236}">
                <a16:creationId xmlns:a16="http://schemas.microsoft.com/office/drawing/2014/main" id="{6B751348-B93B-5F0A-00FB-F14291A1CD1C}"/>
              </a:ext>
            </a:extLst>
          </p:cNvPr>
          <p:cNvCxnSpPr>
            <a:cxnSpLocks/>
          </p:cNvCxnSpPr>
          <p:nvPr/>
        </p:nvCxnSpPr>
        <p:spPr>
          <a:xfrm>
            <a:off x="7271658" y="5313713"/>
            <a:ext cx="587828"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69751BB-B037-F06E-08CA-9DCEA3102EAE}"/>
              </a:ext>
            </a:extLst>
          </p:cNvPr>
          <p:cNvCxnSpPr>
            <a:cxnSpLocks/>
          </p:cNvCxnSpPr>
          <p:nvPr/>
        </p:nvCxnSpPr>
        <p:spPr>
          <a:xfrm>
            <a:off x="7271658" y="2799113"/>
            <a:ext cx="587828" cy="0"/>
          </a:xfrm>
          <a:prstGeom prst="straightConnector1">
            <a:avLst/>
          </a:prstGeom>
          <a:ln w="762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83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C6A56-7A7B-44DC-D86B-23020D56CBB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A725404-8440-70D3-575E-2E1074E466C3}"/>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213DC9F9-3E1E-F6A2-0ADF-75BEE4C802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01D286F-8DC4-7152-DAEB-72E5EF71F687}"/>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19A691-1627-269C-782E-AE50E6A4F465}"/>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6BEAC308-8A0B-A01A-20A8-4E132773EE73}"/>
              </a:ext>
            </a:extLst>
          </p:cNvPr>
          <p:cNvSpPr/>
          <p:nvPr/>
        </p:nvSpPr>
        <p:spPr>
          <a:xfrm>
            <a:off x="609441" y="1418372"/>
            <a:ext cx="11199971" cy="493607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83C590A-0AAE-E9D8-A8C2-D210585615AA}"/>
              </a:ext>
            </a:extLst>
          </p:cNvPr>
          <p:cNvSpPr txBox="1"/>
          <p:nvPr/>
        </p:nvSpPr>
        <p:spPr>
          <a:xfrm>
            <a:off x="9111343" y="104502"/>
            <a:ext cx="2698069" cy="584775"/>
          </a:xfrm>
          <a:prstGeom prst="rect">
            <a:avLst/>
          </a:prstGeom>
          <a:noFill/>
          <a:ln w="38100">
            <a:solidFill>
              <a:schemeClr val="accent1"/>
            </a:solidFill>
          </a:ln>
        </p:spPr>
        <p:txBody>
          <a:bodyPr wrap="square" rtlCol="0">
            <a:spAutoFit/>
          </a:bodyPr>
          <a:lstStyle/>
          <a:p>
            <a:pPr algn="ctr"/>
            <a:r>
              <a:rPr lang="es-ES" sz="3200" b="1"/>
              <a:t>GAP = 0.6 </a:t>
            </a:r>
            <a:r>
              <a:rPr lang="es-ES" sz="3200" b="1" err="1"/>
              <a:t>um</a:t>
            </a:r>
            <a:endParaRPr lang="es-ES" sz="3200" b="1"/>
          </a:p>
        </p:txBody>
      </p:sp>
      <p:sp>
        <p:nvSpPr>
          <p:cNvPr id="12" name="TextBox 11">
            <a:extLst>
              <a:ext uri="{FF2B5EF4-FFF2-40B4-BE49-F238E27FC236}">
                <a16:creationId xmlns:a16="http://schemas.microsoft.com/office/drawing/2014/main" id="{21CB5BCB-FF29-A034-6FB9-E0EB0A4CD29F}"/>
              </a:ext>
            </a:extLst>
          </p:cNvPr>
          <p:cNvSpPr txBox="1"/>
          <p:nvPr/>
        </p:nvSpPr>
        <p:spPr>
          <a:xfrm>
            <a:off x="9111343" y="766880"/>
            <a:ext cx="2698069" cy="584775"/>
          </a:xfrm>
          <a:prstGeom prst="rect">
            <a:avLst/>
          </a:prstGeom>
          <a:noFill/>
          <a:ln w="38100">
            <a:solidFill>
              <a:srgbClr val="00B050"/>
            </a:solidFill>
          </a:ln>
        </p:spPr>
        <p:txBody>
          <a:bodyPr wrap="square" rtlCol="0">
            <a:spAutoFit/>
          </a:bodyPr>
          <a:lstStyle/>
          <a:p>
            <a:pPr algn="ctr"/>
            <a:r>
              <a:rPr lang="es-ES" sz="3200" b="1"/>
              <a:t>GAP = 0.8 </a:t>
            </a:r>
            <a:r>
              <a:rPr lang="es-ES" sz="3200" b="1" err="1"/>
              <a:t>um</a:t>
            </a:r>
            <a:endParaRPr lang="es-ES" sz="3200" b="1"/>
          </a:p>
        </p:txBody>
      </p:sp>
      <p:cxnSp>
        <p:nvCxnSpPr>
          <p:cNvPr id="14" name="Straight Arrow Connector 13">
            <a:extLst>
              <a:ext uri="{FF2B5EF4-FFF2-40B4-BE49-F238E27FC236}">
                <a16:creationId xmlns:a16="http://schemas.microsoft.com/office/drawing/2014/main" id="{30A3F6A0-9B14-1E6F-044D-0FC09C1560BA}"/>
              </a:ext>
            </a:extLst>
          </p:cNvPr>
          <p:cNvCxnSpPr>
            <a:cxnSpLocks/>
          </p:cNvCxnSpPr>
          <p:nvPr/>
        </p:nvCxnSpPr>
        <p:spPr>
          <a:xfrm>
            <a:off x="7271658" y="5313713"/>
            <a:ext cx="587828"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2A6D1AD-3936-34A0-0E1C-C703EDBFA536}"/>
              </a:ext>
            </a:extLst>
          </p:cNvPr>
          <p:cNvCxnSpPr>
            <a:cxnSpLocks/>
          </p:cNvCxnSpPr>
          <p:nvPr/>
        </p:nvCxnSpPr>
        <p:spPr>
          <a:xfrm>
            <a:off x="7097487" y="2799113"/>
            <a:ext cx="587828" cy="0"/>
          </a:xfrm>
          <a:prstGeom prst="straightConnector1">
            <a:avLst/>
          </a:prstGeom>
          <a:ln w="762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4DA71618-3EE3-9F3F-E20C-7544B01212DF}"/>
              </a:ext>
            </a:extLst>
          </p:cNvPr>
          <p:cNvPicPr>
            <a:picLocks noChangeAspect="1"/>
          </p:cNvPicPr>
          <p:nvPr/>
        </p:nvPicPr>
        <p:blipFill>
          <a:blip r:embed="rId4"/>
          <a:stretch>
            <a:fillRect/>
          </a:stretch>
        </p:blipFill>
        <p:spPr>
          <a:xfrm>
            <a:off x="7977534" y="1528275"/>
            <a:ext cx="2888489" cy="2256458"/>
          </a:xfrm>
          <a:prstGeom prst="rect">
            <a:avLst/>
          </a:prstGeom>
          <a:ln w="38100">
            <a:solidFill>
              <a:schemeClr val="tx2">
                <a:lumMod val="60000"/>
                <a:lumOff val="40000"/>
              </a:schemeClr>
            </a:solidFill>
          </a:ln>
        </p:spPr>
      </p:pic>
      <p:pic>
        <p:nvPicPr>
          <p:cNvPr id="20" name="Picture 19">
            <a:extLst>
              <a:ext uri="{FF2B5EF4-FFF2-40B4-BE49-F238E27FC236}">
                <a16:creationId xmlns:a16="http://schemas.microsoft.com/office/drawing/2014/main" id="{38807048-AB70-A58C-B911-18786D083194}"/>
              </a:ext>
            </a:extLst>
          </p:cNvPr>
          <p:cNvPicPr>
            <a:picLocks noChangeAspect="1"/>
          </p:cNvPicPr>
          <p:nvPr/>
        </p:nvPicPr>
        <p:blipFill>
          <a:blip r:embed="rId5"/>
          <a:stretch>
            <a:fillRect/>
          </a:stretch>
        </p:blipFill>
        <p:spPr>
          <a:xfrm>
            <a:off x="1325977" y="2099025"/>
            <a:ext cx="5505450" cy="1400175"/>
          </a:xfrm>
          <a:prstGeom prst="rect">
            <a:avLst/>
          </a:prstGeom>
          <a:ln w="57150">
            <a:solidFill>
              <a:schemeClr val="tx2">
                <a:lumMod val="60000"/>
                <a:lumOff val="40000"/>
              </a:schemeClr>
            </a:solidFill>
          </a:ln>
        </p:spPr>
      </p:pic>
      <p:pic>
        <p:nvPicPr>
          <p:cNvPr id="22" name="Picture 21">
            <a:extLst>
              <a:ext uri="{FF2B5EF4-FFF2-40B4-BE49-F238E27FC236}">
                <a16:creationId xmlns:a16="http://schemas.microsoft.com/office/drawing/2014/main" id="{981C387B-B6F6-5798-DC96-33CB21A2ADE2}"/>
              </a:ext>
            </a:extLst>
          </p:cNvPr>
          <p:cNvPicPr>
            <a:picLocks noChangeAspect="1"/>
          </p:cNvPicPr>
          <p:nvPr/>
        </p:nvPicPr>
        <p:blipFill>
          <a:blip r:embed="rId6"/>
          <a:stretch>
            <a:fillRect/>
          </a:stretch>
        </p:blipFill>
        <p:spPr>
          <a:xfrm>
            <a:off x="1381206" y="4561677"/>
            <a:ext cx="5505450" cy="1162050"/>
          </a:xfrm>
          <a:prstGeom prst="rect">
            <a:avLst/>
          </a:prstGeom>
          <a:ln w="57150">
            <a:solidFill>
              <a:srgbClr val="00B050"/>
            </a:solidFill>
          </a:ln>
        </p:spPr>
      </p:pic>
      <p:pic>
        <p:nvPicPr>
          <p:cNvPr id="24" name="Picture 23">
            <a:extLst>
              <a:ext uri="{FF2B5EF4-FFF2-40B4-BE49-F238E27FC236}">
                <a16:creationId xmlns:a16="http://schemas.microsoft.com/office/drawing/2014/main" id="{EF729E2E-19E2-02B8-2231-97033B40166D}"/>
              </a:ext>
            </a:extLst>
          </p:cNvPr>
          <p:cNvPicPr>
            <a:picLocks noChangeAspect="1"/>
          </p:cNvPicPr>
          <p:nvPr/>
        </p:nvPicPr>
        <p:blipFill>
          <a:blip r:embed="rId7"/>
          <a:stretch>
            <a:fillRect/>
          </a:stretch>
        </p:blipFill>
        <p:spPr>
          <a:xfrm>
            <a:off x="7977534" y="4007988"/>
            <a:ext cx="2888489" cy="2227470"/>
          </a:xfrm>
          <a:prstGeom prst="rect">
            <a:avLst/>
          </a:prstGeom>
          <a:ln w="57150">
            <a:solidFill>
              <a:srgbClr val="00B050"/>
            </a:solidFill>
          </a:ln>
        </p:spPr>
      </p:pic>
    </p:spTree>
    <p:extLst>
      <p:ext uri="{BB962C8B-B14F-4D97-AF65-F5344CB8AC3E}">
        <p14:creationId xmlns:p14="http://schemas.microsoft.com/office/powerpoint/2010/main" val="2071429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A2CB2-26C6-EB5A-0386-7C422B3C025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8173326-C760-C17E-CD51-780C589983DB}"/>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987BDB36-60A5-5169-6EE5-0519C25F02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36C1740-8BF9-6888-0B1D-6667099127DA}"/>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90A4A41-6314-C0B2-C566-2785B890E938}"/>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255D611F-B24F-A64C-9EEC-78D0B2F39BDB}"/>
              </a:ext>
            </a:extLst>
          </p:cNvPr>
          <p:cNvSpPr/>
          <p:nvPr/>
        </p:nvSpPr>
        <p:spPr>
          <a:xfrm>
            <a:off x="609441" y="1418372"/>
            <a:ext cx="11199971" cy="493607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BEEB957-A174-E553-10BB-752260E29D24}"/>
              </a:ext>
            </a:extLst>
          </p:cNvPr>
          <p:cNvSpPr txBox="1"/>
          <p:nvPr/>
        </p:nvSpPr>
        <p:spPr>
          <a:xfrm>
            <a:off x="9111343" y="104502"/>
            <a:ext cx="2698069" cy="584775"/>
          </a:xfrm>
          <a:prstGeom prst="rect">
            <a:avLst/>
          </a:prstGeom>
          <a:noFill/>
          <a:ln w="38100">
            <a:solidFill>
              <a:schemeClr val="accent1"/>
            </a:solidFill>
          </a:ln>
        </p:spPr>
        <p:txBody>
          <a:bodyPr wrap="square" rtlCol="0">
            <a:spAutoFit/>
          </a:bodyPr>
          <a:lstStyle/>
          <a:p>
            <a:pPr algn="ctr"/>
            <a:r>
              <a:rPr lang="es-ES" sz="3200" b="1"/>
              <a:t>GAP = 1.0 </a:t>
            </a:r>
            <a:r>
              <a:rPr lang="es-ES" sz="3200" b="1" err="1"/>
              <a:t>um</a:t>
            </a:r>
            <a:endParaRPr lang="es-ES" sz="3200" b="1"/>
          </a:p>
        </p:txBody>
      </p:sp>
      <p:sp>
        <p:nvSpPr>
          <p:cNvPr id="12" name="TextBox 11">
            <a:extLst>
              <a:ext uri="{FF2B5EF4-FFF2-40B4-BE49-F238E27FC236}">
                <a16:creationId xmlns:a16="http://schemas.microsoft.com/office/drawing/2014/main" id="{A04F0425-7D43-DE3A-6ABF-4124DB2B13FC}"/>
              </a:ext>
            </a:extLst>
          </p:cNvPr>
          <p:cNvSpPr txBox="1"/>
          <p:nvPr/>
        </p:nvSpPr>
        <p:spPr>
          <a:xfrm>
            <a:off x="9111343" y="766880"/>
            <a:ext cx="2698069" cy="584775"/>
          </a:xfrm>
          <a:prstGeom prst="rect">
            <a:avLst/>
          </a:prstGeom>
          <a:noFill/>
          <a:ln w="38100">
            <a:solidFill>
              <a:srgbClr val="00B050"/>
            </a:solidFill>
          </a:ln>
        </p:spPr>
        <p:txBody>
          <a:bodyPr wrap="square" rtlCol="0">
            <a:spAutoFit/>
          </a:bodyPr>
          <a:lstStyle/>
          <a:p>
            <a:pPr algn="ctr"/>
            <a:r>
              <a:rPr lang="es-ES" sz="3200" b="1"/>
              <a:t>GAP = 1.2 </a:t>
            </a:r>
            <a:r>
              <a:rPr lang="es-ES" sz="3200" b="1" err="1"/>
              <a:t>um</a:t>
            </a:r>
            <a:endParaRPr lang="es-ES" sz="3200" b="1"/>
          </a:p>
        </p:txBody>
      </p:sp>
      <p:cxnSp>
        <p:nvCxnSpPr>
          <p:cNvPr id="14" name="Straight Arrow Connector 13">
            <a:extLst>
              <a:ext uri="{FF2B5EF4-FFF2-40B4-BE49-F238E27FC236}">
                <a16:creationId xmlns:a16="http://schemas.microsoft.com/office/drawing/2014/main" id="{D6F5A02D-8371-2FE3-38E4-FF06DB5F8A16}"/>
              </a:ext>
            </a:extLst>
          </p:cNvPr>
          <p:cNvCxnSpPr>
            <a:cxnSpLocks/>
          </p:cNvCxnSpPr>
          <p:nvPr/>
        </p:nvCxnSpPr>
        <p:spPr>
          <a:xfrm>
            <a:off x="7184571" y="5313713"/>
            <a:ext cx="674915"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73E6DC8-1DD3-7691-235C-72008D4ADA32}"/>
              </a:ext>
            </a:extLst>
          </p:cNvPr>
          <p:cNvCxnSpPr>
            <a:cxnSpLocks/>
          </p:cNvCxnSpPr>
          <p:nvPr/>
        </p:nvCxnSpPr>
        <p:spPr>
          <a:xfrm>
            <a:off x="6966857" y="2799113"/>
            <a:ext cx="718458" cy="0"/>
          </a:xfrm>
          <a:prstGeom prst="straightConnector1">
            <a:avLst/>
          </a:prstGeom>
          <a:ln w="762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1" name="Imagen 12">
            <a:extLst>
              <a:ext uri="{FF2B5EF4-FFF2-40B4-BE49-F238E27FC236}">
                <a16:creationId xmlns:a16="http://schemas.microsoft.com/office/drawing/2014/main" id="{CF403CCA-CCC5-07EE-25B6-25DDB2522C51}"/>
              </a:ext>
            </a:extLst>
          </p:cNvPr>
          <p:cNvPicPr>
            <a:picLocks noChangeAspect="1"/>
          </p:cNvPicPr>
          <p:nvPr/>
        </p:nvPicPr>
        <p:blipFill>
          <a:blip r:embed="rId4"/>
          <a:stretch>
            <a:fillRect/>
          </a:stretch>
        </p:blipFill>
        <p:spPr>
          <a:xfrm>
            <a:off x="685800" y="4799093"/>
            <a:ext cx="6317339" cy="1071106"/>
          </a:xfrm>
          <a:prstGeom prst="rect">
            <a:avLst/>
          </a:prstGeom>
          <a:ln w="57150">
            <a:solidFill>
              <a:srgbClr val="00B050"/>
            </a:solidFill>
          </a:ln>
        </p:spPr>
      </p:pic>
      <p:pic>
        <p:nvPicPr>
          <p:cNvPr id="17" name="Picture 16">
            <a:extLst>
              <a:ext uri="{FF2B5EF4-FFF2-40B4-BE49-F238E27FC236}">
                <a16:creationId xmlns:a16="http://schemas.microsoft.com/office/drawing/2014/main" id="{93EA2399-79CC-1BDA-44FC-34DAC70122E4}"/>
              </a:ext>
            </a:extLst>
          </p:cNvPr>
          <p:cNvPicPr>
            <a:picLocks noChangeAspect="1"/>
          </p:cNvPicPr>
          <p:nvPr/>
        </p:nvPicPr>
        <p:blipFill>
          <a:blip r:embed="rId5"/>
          <a:stretch>
            <a:fillRect/>
          </a:stretch>
        </p:blipFill>
        <p:spPr>
          <a:xfrm>
            <a:off x="1287236" y="2332062"/>
            <a:ext cx="5505450" cy="1019175"/>
          </a:xfrm>
          <a:prstGeom prst="rect">
            <a:avLst/>
          </a:prstGeom>
          <a:ln w="57150">
            <a:solidFill>
              <a:schemeClr val="tx2">
                <a:lumMod val="60000"/>
                <a:lumOff val="40000"/>
              </a:schemeClr>
            </a:solidFill>
          </a:ln>
        </p:spPr>
      </p:pic>
      <p:pic>
        <p:nvPicPr>
          <p:cNvPr id="20" name="Picture 19">
            <a:extLst>
              <a:ext uri="{FF2B5EF4-FFF2-40B4-BE49-F238E27FC236}">
                <a16:creationId xmlns:a16="http://schemas.microsoft.com/office/drawing/2014/main" id="{1ADC7259-FE81-1ADB-EBC9-D60424EBBF95}"/>
              </a:ext>
            </a:extLst>
          </p:cNvPr>
          <p:cNvPicPr>
            <a:picLocks noChangeAspect="1"/>
          </p:cNvPicPr>
          <p:nvPr/>
        </p:nvPicPr>
        <p:blipFill>
          <a:blip r:embed="rId6"/>
          <a:stretch>
            <a:fillRect/>
          </a:stretch>
        </p:blipFill>
        <p:spPr>
          <a:xfrm>
            <a:off x="7859487" y="1655824"/>
            <a:ext cx="2895600" cy="2231036"/>
          </a:xfrm>
          <a:prstGeom prst="rect">
            <a:avLst/>
          </a:prstGeom>
          <a:ln w="57150">
            <a:solidFill>
              <a:schemeClr val="tx2">
                <a:lumMod val="60000"/>
                <a:lumOff val="40000"/>
              </a:schemeClr>
            </a:solidFill>
          </a:ln>
        </p:spPr>
      </p:pic>
      <p:pic>
        <p:nvPicPr>
          <p:cNvPr id="22" name="Picture 21">
            <a:extLst>
              <a:ext uri="{FF2B5EF4-FFF2-40B4-BE49-F238E27FC236}">
                <a16:creationId xmlns:a16="http://schemas.microsoft.com/office/drawing/2014/main" id="{33E32876-D8C1-3641-AC54-D09B846C5102}"/>
              </a:ext>
            </a:extLst>
          </p:cNvPr>
          <p:cNvPicPr>
            <a:picLocks noChangeAspect="1"/>
          </p:cNvPicPr>
          <p:nvPr/>
        </p:nvPicPr>
        <p:blipFill>
          <a:blip r:embed="rId7"/>
          <a:stretch>
            <a:fillRect/>
          </a:stretch>
        </p:blipFill>
        <p:spPr>
          <a:xfrm>
            <a:off x="7894920" y="4028641"/>
            <a:ext cx="2860167" cy="2231036"/>
          </a:xfrm>
          <a:prstGeom prst="rect">
            <a:avLst/>
          </a:prstGeom>
          <a:ln w="57150">
            <a:solidFill>
              <a:srgbClr val="00B050"/>
            </a:solidFill>
          </a:ln>
        </p:spPr>
      </p:pic>
    </p:spTree>
    <p:extLst>
      <p:ext uri="{BB962C8B-B14F-4D97-AF65-F5344CB8AC3E}">
        <p14:creationId xmlns:p14="http://schemas.microsoft.com/office/powerpoint/2010/main" val="3177107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D2C3B-58A2-4322-1589-255D1C45273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D8269B8-1332-AEA1-4E6D-B1907447D1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5D9EBD68-B57B-B10A-61B7-000D4E1F1A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C9278CB-0308-69D3-8306-74A04AD8F24C}"/>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3363981B-036C-4AC6-D52D-B4020053FB56}"/>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74024BAA-58E5-2D0E-24F6-8B82F16CB6CC}"/>
              </a:ext>
            </a:extLst>
          </p:cNvPr>
          <p:cNvSpPr txBox="1"/>
          <p:nvPr/>
        </p:nvSpPr>
        <p:spPr>
          <a:xfrm>
            <a:off x="609600" y="1451774"/>
            <a:ext cx="10874909" cy="4431983"/>
          </a:xfrm>
          <a:prstGeom prst="rect">
            <a:avLst/>
          </a:prstGeom>
          <a:solidFill>
            <a:schemeClr val="bg1">
              <a:lumMod val="95000"/>
            </a:schemeClr>
          </a:solidFill>
          <a:ln w="28575">
            <a:solidFill>
              <a:srgbClr val="E0700D"/>
            </a:solidFill>
          </a:ln>
        </p:spPr>
        <p:txBody>
          <a:bodyPr wrap="square" rtlCol="0">
            <a:spAutoFit/>
          </a:bodyPr>
          <a:lstStyle/>
          <a:p>
            <a:r>
              <a:rPr lang="es-ES">
                <a:latin typeface="Arial" panose="020B0604020202020204" pitchFamily="34" charset="0"/>
                <a:cs typeface="Arial" panose="020B0604020202020204" pitchFamily="34" charset="0"/>
              </a:rPr>
              <a:t>Se ha simulado mediante EME (</a:t>
            </a:r>
            <a:r>
              <a:rPr lang="es-ES" err="1">
                <a:latin typeface="Arial" panose="020B0604020202020204" pitchFamily="34" charset="0"/>
                <a:cs typeface="Arial" panose="020B0604020202020204" pitchFamily="34" charset="0"/>
              </a:rPr>
              <a:t>Eigenmode</a:t>
            </a:r>
            <a:r>
              <a:rPr lang="es-ES">
                <a:latin typeface="Arial" panose="020B0604020202020204" pitchFamily="34" charset="0"/>
                <a:cs typeface="Arial" panose="020B0604020202020204" pitchFamily="34" charset="0"/>
              </a:rPr>
              <a:t> </a:t>
            </a:r>
            <a:r>
              <a:rPr lang="es-ES" err="1">
                <a:latin typeface="Arial" panose="020B0604020202020204" pitchFamily="34" charset="0"/>
                <a:cs typeface="Arial" panose="020B0604020202020204" pitchFamily="34" charset="0"/>
              </a:rPr>
              <a:t>Expansion</a:t>
            </a:r>
            <a:r>
              <a:rPr lang="es-ES">
                <a:latin typeface="Arial" panose="020B0604020202020204" pitchFamily="34" charset="0"/>
                <a:cs typeface="Arial" panose="020B0604020202020204" pitchFamily="34" charset="0"/>
              </a:rPr>
              <a:t>) un acoplador direccional 2x2 diseñado como divisor 50/50, realizando un barrido del gap entre 0.2 y 1.2 µm en pasos de 0.2 µm. En cada caso, la longitud de la región de acoplamiento se fija a L = 0.5·L_π para garantizar el reparto equitativo de potencia.</a:t>
            </a:r>
          </a:p>
          <a:p>
            <a:endParaRPr lang="es-ES">
              <a:latin typeface="Arial" panose="020B0604020202020204" pitchFamily="34" charset="0"/>
              <a:cs typeface="Arial" panose="020B0604020202020204" pitchFamily="34" charset="0"/>
            </a:endParaRPr>
          </a:p>
          <a:p>
            <a:r>
              <a:rPr lang="es-ES">
                <a:latin typeface="Arial" panose="020B0604020202020204" pitchFamily="34" charset="0"/>
                <a:cs typeface="Arial" panose="020B0604020202020204" pitchFamily="34" charset="0"/>
              </a:rPr>
              <a:t>En todos los casos el ratio de salida es prácticamente 50/50, confirmando el correcto funcionamiento del acoplador 3 dB. Sin embargo, las pérdidas de inserción varían significativamente con el gap. A gaps pequeños (0.2 µm), el fuerte acoplamiento evanescente genera mayor dispersión modal y pérdidas elevadas (1.20 dB), a pesar de requerir longitudes muy cortas. Al aumentar el gap, las pérdidas disminuyen hasta un mínimo en torno a 0.8 µm (0.10 dB), a partir del cual vuelven a crecer ligeramente debido a que la longitud del dispositivo se hace excesivamente grande (290 µm para gap = 1.2 µm), incrementando las pérdidas de propagación acumuladas.</a:t>
            </a:r>
          </a:p>
          <a:p>
            <a:endParaRPr lang="es-ES">
              <a:latin typeface="Arial" panose="020B0604020202020204" pitchFamily="34" charset="0"/>
              <a:cs typeface="Arial" panose="020B0604020202020204" pitchFamily="34" charset="0"/>
            </a:endParaRPr>
          </a:p>
          <a:p>
            <a:r>
              <a:rPr lang="es-ES">
                <a:latin typeface="Arial" panose="020B0604020202020204" pitchFamily="34" charset="0"/>
                <a:cs typeface="Arial" panose="020B0604020202020204" pitchFamily="34" charset="0"/>
              </a:rPr>
              <a:t>El diseño óptimo corresponde a un gap = 0.8 µm (L ≈ 87 µm), que ofrece el mejor compromiso entre pérdidas mínimas, longitud razonable y reparto de potencia equilibrado.</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2477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09441" y="204598"/>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Parallel uncoupled waveguides – TE0 mode</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487012" y="4135118"/>
            <a:ext cx="11322400" cy="2492990"/>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Para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dos </a:t>
            </a:r>
            <a:r>
              <a:rPr lang="en-US" sz="1200" err="1">
                <a:latin typeface="Arial" panose="020B0604020202020204" pitchFamily="34" charset="0"/>
                <a:cs typeface="Arial" panose="020B0604020202020204" pitchFamily="34" charset="0"/>
              </a:rPr>
              <a:t>guías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paralelas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puedan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considerarse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desacopladas</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impone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criterio</a:t>
            </a:r>
            <a:r>
              <a:rPr lang="en-US" sz="1200">
                <a:latin typeface="Arial" panose="020B0604020202020204" pitchFamily="34" charset="0"/>
                <a:cs typeface="Arial" panose="020B0604020202020204" pitchFamily="34" charset="0"/>
              </a:rPr>
              <a:t> K &lt; 0.01, es </a:t>
            </a:r>
            <a:r>
              <a:rPr lang="en-US" sz="1200" err="1">
                <a:latin typeface="Arial" panose="020B0604020202020204" pitchFamily="34" charset="0"/>
                <a:cs typeface="Arial" panose="020B0604020202020204" pitchFamily="34" charset="0"/>
              </a:rPr>
              <a:t>decir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menos</a:t>
            </a:r>
            <a:r>
              <a:rPr lang="en-US" sz="1200">
                <a:latin typeface="Arial" panose="020B0604020202020204" pitchFamily="34" charset="0"/>
                <a:cs typeface="Arial" panose="020B0604020202020204" pitchFamily="34" charset="0"/>
              </a:rPr>
              <a:t> del 1% de </a:t>
            </a:r>
            <a:r>
              <a:rPr lang="en-US" sz="1200" err="1">
                <a:latin typeface="Arial" panose="020B0604020202020204" pitchFamily="34" charset="0"/>
                <a:cs typeface="Arial" panose="020B0604020202020204" pitchFamily="34" charset="0"/>
              </a:rPr>
              <a:t>potencia</a:t>
            </a:r>
            <a:r>
              <a:rPr lang="en-US" sz="1200">
                <a:latin typeface="Arial" panose="020B0604020202020204" pitchFamily="34" charset="0"/>
                <a:cs typeface="Arial" panose="020B0604020202020204" pitchFamily="34" charset="0"/>
              </a:rPr>
              <a:t> se </a:t>
            </a:r>
            <a:r>
              <a:rPr lang="en-US" sz="1200" err="1">
                <a:latin typeface="Arial" panose="020B0604020202020204" pitchFamily="34" charset="0"/>
                <a:cs typeface="Arial" panose="020B0604020202020204" pitchFamily="34" charset="0"/>
              </a:rPr>
              <a:t>transfiere</a:t>
            </a:r>
            <a:r>
              <a:rPr lang="en-US" sz="1200">
                <a:latin typeface="Arial" panose="020B0604020202020204" pitchFamily="34" charset="0"/>
                <a:cs typeface="Arial" panose="020B0604020202020204" pitchFamily="34" charset="0"/>
              </a:rPr>
              <a:t> a la </a:t>
            </a:r>
            <a:r>
              <a:rPr lang="en-US" sz="1200" err="1">
                <a:latin typeface="Arial" panose="020B0604020202020204" pitchFamily="34" charset="0"/>
                <a:cs typeface="Arial" panose="020B0604020202020204" pitchFamily="34" charset="0"/>
              </a:rPr>
              <a:t>guía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vecina</a:t>
            </a:r>
            <a:r>
              <a:rPr lang="en-US" sz="1200">
                <a:latin typeface="Arial" panose="020B0604020202020204" pitchFamily="34" charset="0"/>
                <a:cs typeface="Arial" panose="020B0604020202020204" pitchFamily="34" charset="0"/>
              </a:rPr>
              <a:t> a lo largo de </a:t>
            </a:r>
            <a:r>
              <a:rPr lang="en-US" sz="1200" err="1">
                <a:latin typeface="Arial" panose="020B0604020202020204" pitchFamily="34" charset="0"/>
                <a:cs typeface="Arial" panose="020B0604020202020204" pitchFamily="34" charset="0"/>
              </a:rPr>
              <a:t>una</a:t>
            </a:r>
            <a:r>
              <a:rPr lang="en-US" sz="1200">
                <a:latin typeface="Arial" panose="020B0604020202020204" pitchFamily="34" charset="0"/>
                <a:cs typeface="Arial" panose="020B0604020202020204" pitchFamily="34" charset="0"/>
              </a:rPr>
              <a:t> longitude de 10 mm. Esto </a:t>
            </a:r>
            <a:r>
              <a:rPr lang="en-US" sz="1200" err="1">
                <a:latin typeface="Arial" panose="020B0604020202020204" pitchFamily="34" charset="0"/>
                <a:cs typeface="Arial" panose="020B0604020202020204" pitchFamily="34" charset="0"/>
              </a:rPr>
              <a:t>implica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una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L_pi</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teórica</a:t>
            </a:r>
            <a:r>
              <a:rPr lang="en-US" sz="1200">
                <a:latin typeface="Arial" panose="020B0604020202020204" pitchFamily="34" charset="0"/>
                <a:cs typeface="Arial" panose="020B0604020202020204" pitchFamily="34" charset="0"/>
              </a:rPr>
              <a:t> de 156.81 mm.</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Se ha </a:t>
            </a:r>
            <a:r>
              <a:rPr lang="en-US" sz="1200" err="1">
                <a:latin typeface="Arial" panose="020B0604020202020204" pitchFamily="34" charset="0"/>
                <a:cs typeface="Arial" panose="020B0604020202020204" pitchFamily="34" charset="0"/>
              </a:rPr>
              <a:t>realizado</a:t>
            </a:r>
            <a:r>
              <a:rPr lang="en-US" sz="1200">
                <a:latin typeface="Arial" panose="020B0604020202020204" pitchFamily="34" charset="0"/>
                <a:cs typeface="Arial" panose="020B0604020202020204" pitchFamily="34" charset="0"/>
              </a:rPr>
              <a:t> un </a:t>
            </a:r>
            <a:r>
              <a:rPr lang="en-US" sz="1200" err="1">
                <a:latin typeface="Arial" panose="020B0604020202020204" pitchFamily="34" charset="0"/>
                <a:cs typeface="Arial" panose="020B0604020202020204" pitchFamily="34" charset="0"/>
              </a:rPr>
              <a:t>barrido</a:t>
            </a:r>
            <a:r>
              <a:rPr lang="en-US" sz="1200">
                <a:latin typeface="Arial" panose="020B0604020202020204" pitchFamily="34" charset="0"/>
                <a:cs typeface="Arial" panose="020B0604020202020204" pitchFamily="34" charset="0"/>
              </a:rPr>
              <a:t> del gap para </a:t>
            </a:r>
            <a:r>
              <a:rPr lang="en-US" sz="1200" err="1">
                <a:latin typeface="Arial" panose="020B0604020202020204" pitchFamily="34" charset="0"/>
                <a:cs typeface="Arial" panose="020B0604020202020204" pitchFamily="34" charset="0"/>
              </a:rPr>
              <a:t>encontrar</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separación</a:t>
            </a:r>
            <a:r>
              <a:rPr lang="en-US" sz="1200">
                <a:latin typeface="Arial" panose="020B0604020202020204" pitchFamily="34" charset="0"/>
                <a:cs typeface="Arial" panose="020B0604020202020204" pitchFamily="34" charset="0"/>
              </a:rPr>
              <a:t> minima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satisfice </a:t>
            </a:r>
            <a:r>
              <a:rPr lang="en-US" sz="1200" err="1">
                <a:latin typeface="Arial" panose="020B0604020202020204" pitchFamily="34" charset="0"/>
                <a:cs typeface="Arial" panose="020B0604020202020204" pitchFamily="34" charset="0"/>
              </a:rPr>
              <a:t>este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criterio</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guías</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anchura</a:t>
            </a:r>
            <a:r>
              <a:rPr lang="en-US" sz="1200">
                <a:latin typeface="Arial" panose="020B0604020202020204" pitchFamily="34" charset="0"/>
                <a:cs typeface="Arial" panose="020B0604020202020204" pitchFamily="34" charset="0"/>
              </a:rPr>
              <a:t> 1.0 um a longitude de </a:t>
            </a:r>
            <a:r>
              <a:rPr lang="en-US" sz="1200" err="1">
                <a:latin typeface="Arial" panose="020B0604020202020204" pitchFamily="34" charset="0"/>
                <a:cs typeface="Arial" panose="020B0604020202020204" pitchFamily="34" charset="0"/>
              </a:rPr>
              <a:t>onda</a:t>
            </a:r>
            <a:r>
              <a:rPr lang="en-US" sz="1200">
                <a:latin typeface="Arial" panose="020B0604020202020204" pitchFamily="34" charset="0"/>
                <a:cs typeface="Arial" panose="020B0604020202020204" pitchFamily="34" charset="0"/>
              </a:rPr>
              <a:t> de 1.55 um.</a:t>
            </a:r>
          </a:p>
          <a:p>
            <a:pPr algn="just"/>
            <a:endParaRPr lang="en-US" sz="1200">
              <a:latin typeface="Arial" panose="020B0604020202020204" pitchFamily="34" charset="0"/>
              <a:cs typeface="Arial" panose="020B0604020202020204" pitchFamily="34" charset="0"/>
            </a:endParaRPr>
          </a:p>
          <a:p>
            <a:pPr algn="just"/>
            <a:r>
              <a:rPr lang="en-US" sz="1200" b="1">
                <a:latin typeface="Arial" panose="020B0604020202020204" pitchFamily="34" charset="0"/>
                <a:cs typeface="Arial" panose="020B0604020202020204" pitchFamily="34" charset="0"/>
              </a:rPr>
              <a:t>GUÍA DEEP</a:t>
            </a:r>
            <a:r>
              <a:rPr lang="en-US" sz="1200">
                <a:latin typeface="Arial" panose="020B0604020202020204" pitchFamily="34" charset="0"/>
                <a:cs typeface="Arial" panose="020B0604020202020204" pitchFamily="34" charset="0"/>
              </a:rPr>
              <a:t>: La curva </a:t>
            </a:r>
            <a:r>
              <a:rPr lang="es-ES" sz="1200">
                <a:latin typeface="Arial" panose="020B0604020202020204" pitchFamily="34" charset="0"/>
                <a:cs typeface="Arial" panose="020B0604020202020204" pitchFamily="34" charset="0"/>
              </a:rPr>
              <a:t>muestra oscilaciones pronunciadas para gaps pequeños, consecuencia del fuerte acoplamiento evanescente, y decae de forma monótona a partir de ~3.5 µm hasta converger por debajo del umbral K = 0.01. El gap mínimo para guía </a:t>
            </a:r>
            <a:r>
              <a:rPr lang="es-ES" sz="1200" err="1">
                <a:latin typeface="Arial" panose="020B0604020202020204" pitchFamily="34" charset="0"/>
                <a:cs typeface="Arial" panose="020B0604020202020204" pitchFamily="34" charset="0"/>
              </a:rPr>
              <a:t>deep</a:t>
            </a:r>
            <a:r>
              <a:rPr lang="es-ES" sz="1200">
                <a:latin typeface="Arial" panose="020B0604020202020204" pitchFamily="34" charset="0"/>
                <a:cs typeface="Arial" panose="020B0604020202020204" pitchFamily="34" charset="0"/>
              </a:rPr>
              <a:t> es ~3.5 µm. </a:t>
            </a:r>
          </a:p>
          <a:p>
            <a:pPr algn="just"/>
            <a:endParaRPr lang="es-ES" sz="1200">
              <a:latin typeface="Arial" panose="020B0604020202020204" pitchFamily="34" charset="0"/>
              <a:cs typeface="Arial" panose="020B0604020202020204" pitchFamily="34" charset="0"/>
            </a:endParaRPr>
          </a:p>
          <a:p>
            <a:pPr algn="just"/>
            <a:r>
              <a:rPr lang="es-ES" sz="1200" b="1">
                <a:latin typeface="Arial" panose="020B0604020202020204" pitchFamily="34" charset="0"/>
                <a:cs typeface="Arial" panose="020B0604020202020204" pitchFamily="34" charset="0"/>
              </a:rPr>
              <a:t>GUÍA SHALLOW</a:t>
            </a:r>
            <a:r>
              <a:rPr lang="es-ES" sz="1200">
                <a:latin typeface="Arial" panose="020B0604020202020204" pitchFamily="34" charset="0"/>
                <a:cs typeface="Arial" panose="020B0604020202020204" pitchFamily="34" charset="0"/>
              </a:rPr>
              <a:t>: La curva presenta un comportamiento mucho más irregular, con múltiples picos de acoplamiento elevado que se extienden hasta gaps mayores. Esto refleja que el campo óptico está menos confinado lateralmente al propagarse parcialmente por el </a:t>
            </a:r>
            <a:r>
              <a:rPr lang="es-ES" sz="1200" err="1">
                <a:latin typeface="Arial" panose="020B0604020202020204" pitchFamily="34" charset="0"/>
                <a:cs typeface="Arial" panose="020B0604020202020204" pitchFamily="34" charset="0"/>
              </a:rPr>
              <a:t>slab</a:t>
            </a:r>
            <a:r>
              <a:rPr lang="es-ES" sz="1200">
                <a:latin typeface="Arial" panose="020B0604020202020204" pitchFamily="34" charset="0"/>
                <a:cs typeface="Arial" panose="020B0604020202020204" pitchFamily="34" charset="0"/>
              </a:rPr>
              <a:t>, aumentando el solapamiento con la guía vecina. La curva no cae definitivamente por debajo de K = 0.01 hasta gaps superiores a ~5.1 µm, resultando en un gap mínimo para guía </a:t>
            </a:r>
            <a:r>
              <a:rPr lang="es-ES" sz="1200" err="1">
                <a:latin typeface="Arial" panose="020B0604020202020204" pitchFamily="34" charset="0"/>
                <a:cs typeface="Arial" panose="020B0604020202020204" pitchFamily="34" charset="0"/>
              </a:rPr>
              <a:t>shallow</a:t>
            </a:r>
            <a:r>
              <a:rPr lang="es-ES" sz="1200">
                <a:latin typeface="Arial" panose="020B0604020202020204" pitchFamily="34" charset="0"/>
                <a:cs typeface="Arial" panose="020B0604020202020204" pitchFamily="34" charset="0"/>
              </a:rPr>
              <a:t> considerablemente mayor.</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En conclusión, la guía Deep permite una separación mínima entre guías menor gracias al mayor confinamiento modal.</a:t>
            </a:r>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488600" y="673679"/>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2853" y="651796"/>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r>
                      <a:rPr lang="es-ES" b="0" i="1" smtClean="0">
                        <a:latin typeface="Cambria Math" panose="02040503050406030204" pitchFamily="18" charset="0"/>
                      </a:rPr>
                      <m:t>𝐾</m:t>
                    </m:r>
                  </m:oMath>
                </a14:m>
                <a:r>
                  <a:rPr lang="en-US"/>
                  <a:t> vs gap for 10 mm </a:t>
                </a:r>
                <a:r>
                  <a:rPr lang="en-US" err="1"/>
                  <a:t>wvgs</a:t>
                </a:r>
                <a:r>
                  <a:rPr lang="en-US"/>
                  <a:t> to be uncoupled</a:t>
                </a:r>
              </a:p>
              <a:p>
                <a:pPr algn="ctr"/>
                <a:endParaRPr lang="en-US"/>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4"/>
                <a:stretch>
                  <a:fillRect t="-2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a:t>shallow</a:t>
                </a:r>
                <a:r>
                  <a:rPr lang="en-US"/>
                  <a:t> waveguide</a:t>
                </a:r>
              </a:p>
              <a:p>
                <a:pPr algn="ctr"/>
                <a:r>
                  <a:rPr lang="en-US" err="1"/>
                  <a:t>slab_thickness</a:t>
                </a:r>
                <a:r>
                  <a:rPr lang="en-US"/>
                  <a:t> = 150 nm</a:t>
                </a:r>
              </a:p>
              <a:p>
                <a:pPr algn="ctr"/>
                <a:endParaRPr lang="en-US"/>
              </a:p>
              <a:p>
                <a:pPr algn="ctr"/>
                <a:r>
                  <a:rPr lang="en-US"/>
                  <a:t>Paste </a:t>
                </a:r>
                <a14:m>
                  <m:oMath xmlns:m="http://schemas.openxmlformats.org/officeDocument/2006/math">
                    <m:r>
                      <a:rPr lang="es-ES" i="1">
                        <a:latin typeface="Cambria Math" panose="02040503050406030204" pitchFamily="18" charset="0"/>
                      </a:rPr>
                      <m:t>𝐾</m:t>
                    </m:r>
                  </m:oMath>
                </a14:m>
                <a:r>
                  <a:rPr lang="en-US"/>
                  <a:t> vs gap for 10 mm </a:t>
                </a:r>
                <a:r>
                  <a:rPr lang="en-US" err="1"/>
                  <a:t>wvgs</a:t>
                </a:r>
                <a:r>
                  <a:rPr lang="en-US"/>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5"/>
                <a:stretch>
                  <a:fillRect t="-2479" b="-5785"/>
                </a:stretch>
              </a:blipFill>
            </p:spPr>
            <p:txBody>
              <a:bodyPr/>
              <a:lstStyle/>
              <a:p>
                <a:r>
                  <a:rPr lang="en-US">
                    <a:noFill/>
                  </a:rPr>
                  <a:t> </a:t>
                </a:r>
              </a:p>
            </p:txBody>
          </p:sp>
        </mc:Fallback>
      </mc:AlternateContent>
      <p:pic>
        <p:nvPicPr>
          <p:cNvPr id="7" name="Imagen 6">
            <a:extLst>
              <a:ext uri="{FF2B5EF4-FFF2-40B4-BE49-F238E27FC236}">
                <a16:creationId xmlns:a16="http://schemas.microsoft.com/office/drawing/2014/main" id="{A6B4DDE9-3612-508F-9E0C-2FB4552A833D}"/>
              </a:ext>
            </a:extLst>
          </p:cNvPr>
          <p:cNvPicPr>
            <a:picLocks noChangeAspect="1"/>
          </p:cNvPicPr>
          <p:nvPr/>
        </p:nvPicPr>
        <p:blipFill>
          <a:blip r:embed="rId6"/>
          <a:stretch>
            <a:fillRect/>
          </a:stretch>
        </p:blipFill>
        <p:spPr>
          <a:xfrm>
            <a:off x="820224" y="768042"/>
            <a:ext cx="4546634" cy="3092501"/>
          </a:xfrm>
          <a:prstGeom prst="rect">
            <a:avLst/>
          </a:prstGeom>
        </p:spPr>
      </p:pic>
      <p:pic>
        <p:nvPicPr>
          <p:cNvPr id="11" name="Imagen 10">
            <a:extLst>
              <a:ext uri="{FF2B5EF4-FFF2-40B4-BE49-F238E27FC236}">
                <a16:creationId xmlns:a16="http://schemas.microsoft.com/office/drawing/2014/main" id="{5B60E4A1-32C4-BB15-B257-DFAFD8B6961D}"/>
              </a:ext>
            </a:extLst>
          </p:cNvPr>
          <p:cNvPicPr>
            <a:picLocks noChangeAspect="1"/>
          </p:cNvPicPr>
          <p:nvPr/>
        </p:nvPicPr>
        <p:blipFill>
          <a:blip r:embed="rId7"/>
          <a:stretch>
            <a:fillRect/>
          </a:stretch>
        </p:blipFill>
        <p:spPr>
          <a:xfrm>
            <a:off x="6707982" y="686027"/>
            <a:ext cx="4723447" cy="3212764"/>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68D47-F9F4-A84E-25D6-AD5F11A0941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0FD7BC9-ED8C-53D2-3607-57BACD27A3D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83" name="Gráfico 82">
            <a:extLst>
              <a:ext uri="{FF2B5EF4-FFF2-40B4-BE49-F238E27FC236}">
                <a16:creationId xmlns:a16="http://schemas.microsoft.com/office/drawing/2014/main" id="{D7A67595-88B8-3DE6-B955-AAFEF6957A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AA4130E-A2D0-1B0C-A66E-8C758C5C5A0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7BBCDD3E-2CC4-96D1-1227-F21410C45179}"/>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77A6B971-0A14-CD1E-1CAB-2FE3A843D745}"/>
              </a:ext>
            </a:extLst>
          </p:cNvPr>
          <p:cNvSpPr txBox="1"/>
          <p:nvPr/>
        </p:nvSpPr>
        <p:spPr>
          <a:xfrm>
            <a:off x="299829" y="3885374"/>
            <a:ext cx="11380381" cy="2462213"/>
          </a:xfrm>
          <a:prstGeom prst="rect">
            <a:avLst/>
          </a:prstGeom>
          <a:solidFill>
            <a:schemeClr val="bg1">
              <a:lumMod val="95000"/>
            </a:schemeClr>
          </a:solidFill>
          <a:ln w="28575">
            <a:solidFill>
              <a:srgbClr val="E0700D"/>
            </a:solidFill>
          </a:ln>
        </p:spPr>
        <p:txBody>
          <a:bodyPr wrap="square" rtlCol="0">
            <a:spAutoFit/>
          </a:bodyPr>
          <a:lstStyle/>
          <a:p>
            <a:pPr algn="just"/>
            <a:r>
              <a:rPr lang="en-US" sz="1400">
                <a:latin typeface="Arial" panose="020B0604020202020204" pitchFamily="34" charset="0"/>
                <a:cs typeface="Arial" panose="020B0604020202020204" pitchFamily="34" charset="0"/>
              </a:rPr>
              <a:t>Para </a:t>
            </a:r>
            <a:r>
              <a:rPr lang="en-US" sz="1400" err="1">
                <a:latin typeface="Arial" panose="020B0604020202020204" pitchFamily="34" charset="0"/>
                <a:cs typeface="Arial" panose="020B0604020202020204" pitchFamily="34" charset="0"/>
              </a:rPr>
              <a:t>este</a:t>
            </a:r>
            <a:r>
              <a:rPr lang="en-US" sz="1400">
                <a:latin typeface="Arial" panose="020B0604020202020204" pitchFamily="34" charset="0"/>
                <a:cs typeface="Arial" panose="020B0604020202020204" pitchFamily="34" charset="0"/>
              </a:rPr>
              <a:t> LO5, </a:t>
            </a:r>
            <a:r>
              <a:rPr lang="en-US" sz="1400" err="1">
                <a:latin typeface="Arial" panose="020B0604020202020204" pitchFamily="34" charset="0"/>
                <a:cs typeface="Arial" panose="020B0604020202020204" pitchFamily="34" charset="0"/>
              </a:rPr>
              <a:t>definimos</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sección</a:t>
            </a:r>
            <a:r>
              <a:rPr lang="en-US" sz="1400">
                <a:latin typeface="Arial" panose="020B0604020202020204" pitchFamily="34" charset="0"/>
                <a:cs typeface="Arial" panose="020B0604020202020204" pitchFamily="34" charset="0"/>
              </a:rPr>
              <a:t> transversal del </a:t>
            </a:r>
            <a:r>
              <a:rPr lang="en-US" sz="1400" err="1">
                <a:latin typeface="Arial" panose="020B0604020202020204" pitchFamily="34" charset="0"/>
                <a:cs typeface="Arial" panose="020B0604020202020204" pitchFamily="34" charset="0"/>
              </a:rPr>
              <a:t>cuerpo</a:t>
            </a:r>
            <a:r>
              <a:rPr lang="en-US" sz="1400">
                <a:latin typeface="Arial" panose="020B0604020202020204" pitchFamily="34" charset="0"/>
                <a:cs typeface="Arial" panose="020B0604020202020204" pitchFamily="34" charset="0"/>
              </a:rPr>
              <a:t> del </a:t>
            </a:r>
            <a:r>
              <a:rPr lang="en-US" sz="1400" err="1">
                <a:latin typeface="Arial" panose="020B0604020202020204" pitchFamily="34" charset="0"/>
                <a:cs typeface="Arial" panose="020B0604020202020204" pitchFamily="34" charset="0"/>
              </a:rPr>
              <a:t>acoplador</a:t>
            </a:r>
            <a:r>
              <a:rPr lang="en-US" sz="1400">
                <a:latin typeface="Arial" panose="020B0604020202020204" pitchFamily="34" charset="0"/>
                <a:cs typeface="Arial" panose="020B0604020202020204" pitchFamily="34" charset="0"/>
              </a:rPr>
              <a:t> MI </a:t>
            </a:r>
            <a:r>
              <a:rPr lang="en-US" sz="1400" err="1">
                <a:latin typeface="Arial" panose="020B0604020202020204" pitchFamily="34" charset="0"/>
                <a:cs typeface="Arial" panose="020B0604020202020204" pitchFamily="34" charset="0"/>
              </a:rPr>
              <a:t>como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una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guía</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onda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monomaterial</a:t>
            </a:r>
            <a:r>
              <a:rPr lang="en-US" sz="1400">
                <a:latin typeface="Arial" panose="020B0604020202020204" pitchFamily="34" charset="0"/>
                <a:cs typeface="Arial" panose="020B0604020202020204" pitchFamily="34" charset="0"/>
              </a:rPr>
              <a:t> de Si3N4, de </a:t>
            </a:r>
            <a:r>
              <a:rPr lang="en-US" sz="1400" err="1">
                <a:latin typeface="Arial" panose="020B0604020202020204" pitchFamily="34" charset="0"/>
                <a:cs typeface="Arial" panose="020B0604020202020204" pitchFamily="34" charset="0"/>
              </a:rPr>
              <a:t>anchura</a:t>
            </a:r>
            <a:r>
              <a:rPr lang="en-US" sz="1400">
                <a:latin typeface="Arial" panose="020B0604020202020204" pitchFamily="34" charset="0"/>
                <a:cs typeface="Arial" panose="020B0604020202020204" pitchFamily="34" charset="0"/>
              </a:rPr>
              <a:t> 12 um, </a:t>
            </a:r>
            <a:r>
              <a:rPr lang="en-US" sz="1400" err="1">
                <a:latin typeface="Arial" panose="020B0604020202020204" pitchFamily="34" charset="0"/>
                <a:cs typeface="Arial" panose="020B0604020202020204" pitchFamily="34" charset="0"/>
              </a:rPr>
              <a:t>altura</a:t>
            </a:r>
            <a:r>
              <a:rPr lang="en-US" sz="1400">
                <a:latin typeface="Arial" panose="020B0604020202020204" pitchFamily="34" charset="0"/>
                <a:cs typeface="Arial" panose="020B0604020202020204" pitchFamily="34" charset="0"/>
              </a:rPr>
              <a:t> 300 nm a </a:t>
            </a:r>
            <a:r>
              <a:rPr lang="en-US" sz="1400" err="1">
                <a:latin typeface="Arial" panose="020B0604020202020204" pitchFamily="34" charset="0"/>
                <a:cs typeface="Arial" panose="020B0604020202020204" pitchFamily="34" charset="0"/>
              </a:rPr>
              <a:t>una</a:t>
            </a:r>
            <a:r>
              <a:rPr lang="en-US" sz="1400">
                <a:latin typeface="Arial" panose="020B0604020202020204" pitchFamily="34" charset="0"/>
                <a:cs typeface="Arial" panose="020B0604020202020204" pitchFamily="34" charset="0"/>
              </a:rPr>
              <a:t> longitude de </a:t>
            </a:r>
            <a:r>
              <a:rPr lang="en-US" sz="1400" err="1">
                <a:latin typeface="Arial" panose="020B0604020202020204" pitchFamily="34" charset="0"/>
                <a:cs typeface="Arial" panose="020B0604020202020204" pitchFamily="34" charset="0"/>
              </a:rPr>
              <a:t>onda</a:t>
            </a:r>
            <a:r>
              <a:rPr lang="en-US" sz="1400">
                <a:latin typeface="Arial" panose="020B0604020202020204" pitchFamily="34" charset="0"/>
                <a:cs typeface="Arial" panose="020B0604020202020204" pitchFamily="34" charset="0"/>
              </a:rPr>
              <a:t> de 1.55 um. Al ser </a:t>
            </a:r>
            <a:r>
              <a:rPr lang="en-US" sz="1400" err="1">
                <a:latin typeface="Arial" panose="020B0604020202020204" pitchFamily="34" charset="0"/>
                <a:cs typeface="Arial" panose="020B0604020202020204" pitchFamily="34" charset="0"/>
              </a:rPr>
              <a:t>significativamente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ancha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las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del </a:t>
            </a:r>
            <a:r>
              <a:rPr lang="en-US" sz="1400" err="1">
                <a:latin typeface="Arial" panose="020B0604020202020204" pitchFamily="34" charset="0"/>
                <a:cs typeface="Arial" panose="020B0604020202020204" pitchFamily="34" charset="0"/>
              </a:rPr>
              <a:t>acoplador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direccionar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esta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estructura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soporta</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propagación</a:t>
            </a:r>
            <a:r>
              <a:rPr lang="en-US" sz="1400">
                <a:latin typeface="Arial" panose="020B0604020202020204" pitchFamily="34" charset="0"/>
                <a:cs typeface="Arial" panose="020B0604020202020204" pitchFamily="34" charset="0"/>
              </a:rPr>
              <a:t> de multiples </a:t>
            </a:r>
            <a:r>
              <a:rPr lang="en-US" sz="1400" err="1">
                <a:latin typeface="Arial" panose="020B0604020202020204" pitchFamily="34" charset="0"/>
                <a:cs typeface="Arial" panose="020B0604020202020204" pitchFamily="34" charset="0"/>
              </a:rPr>
              <a:t>modos</a:t>
            </a:r>
            <a:r>
              <a:rPr lang="en-US" sz="1400">
                <a:latin typeface="Arial" panose="020B0604020202020204" pitchFamily="34" charset="0"/>
                <a:cs typeface="Arial" panose="020B0604020202020204" pitchFamily="34" charset="0"/>
              </a:rPr>
              <a:t>. </a:t>
            </a:r>
            <a:r>
              <a:rPr lang="es-ES" sz="1400">
                <a:latin typeface="Arial" panose="020B0604020202020204" pitchFamily="34" charset="0"/>
                <a:cs typeface="Arial" panose="020B0604020202020204" pitchFamily="34" charset="0"/>
              </a:rPr>
              <a:t>La mayoría presenta carácter cuasi-TE, lo que se aprecia en la componente Ex del campo eléctrico.</a:t>
            </a:r>
          </a:p>
          <a:p>
            <a:pPr algn="just"/>
            <a:endParaRPr lang="es-ES" sz="1400">
              <a:latin typeface="Arial" panose="020B0604020202020204" pitchFamily="34" charset="0"/>
              <a:cs typeface="Arial" panose="020B0604020202020204" pitchFamily="34" charset="0"/>
            </a:endParaRPr>
          </a:p>
          <a:p>
            <a:pPr algn="just"/>
            <a:r>
              <a:rPr lang="es-ES" sz="1400">
                <a:latin typeface="Arial" panose="020B0604020202020204" pitchFamily="34" charset="0"/>
                <a:cs typeface="Arial" panose="020B0604020202020204" pitchFamily="34" charset="0"/>
              </a:rPr>
              <a:t>Los </a:t>
            </a:r>
            <a:r>
              <a:rPr lang="es-ES" sz="1400" err="1">
                <a:latin typeface="Arial" panose="020B0604020202020204" pitchFamily="34" charset="0"/>
                <a:cs typeface="Arial" panose="020B0604020202020204" pitchFamily="34" charset="0"/>
              </a:rPr>
              <a:t>plots</a:t>
            </a:r>
            <a:r>
              <a:rPr lang="es-ES" sz="1400">
                <a:latin typeface="Arial" panose="020B0604020202020204" pitchFamily="34" charset="0"/>
                <a:cs typeface="Arial" panose="020B0604020202020204" pitchFamily="34" charset="0"/>
              </a:rPr>
              <a:t> muestran tres modos representativos: el modo 0 presenta un único lóbulo central (modo fundamental), el modo 1 muestra dos lóbulos de signo opuesto con un nodo central (primer orden), y el modo 7 exhibe ocho lóbulos alternando signo, confirmando el carácter fuertemente multimodo de la sección. En todos los casos el campo queda confinado dentro del núcleo.</a:t>
            </a:r>
            <a:endParaRPr lang="en-US" sz="1400">
              <a:latin typeface="Arial" panose="020B0604020202020204" pitchFamily="34" charset="0"/>
              <a:cs typeface="Arial" panose="020B0604020202020204" pitchFamily="34" charset="0"/>
            </a:endParaRPr>
          </a:p>
          <a:p>
            <a:pPr algn="just"/>
            <a:endParaRPr lang="es-ES" sz="1400">
              <a:latin typeface="Arial" panose="020B0604020202020204" pitchFamily="34" charset="0"/>
              <a:cs typeface="Arial" panose="020B0604020202020204" pitchFamily="34" charset="0"/>
            </a:endParaRPr>
          </a:p>
          <a:p>
            <a:pPr algn="just"/>
            <a:r>
              <a:rPr lang="es-ES" sz="1400">
                <a:latin typeface="Arial" panose="020B0604020202020204" pitchFamily="34" charset="0"/>
                <a:cs typeface="Arial" panose="020B0604020202020204" pitchFamily="34" charset="0"/>
              </a:rPr>
              <a:t>A partir de la diferencia de índices efectivos de los dos primeros modos TE se obtiene </a:t>
            </a:r>
            <a:r>
              <a:rPr lang="es-ES" sz="1400" b="1">
                <a:solidFill>
                  <a:schemeClr val="accent3"/>
                </a:solidFill>
                <a:latin typeface="Arial" panose="020B0604020202020204" pitchFamily="34" charset="0"/>
                <a:cs typeface="Arial" panose="020B0604020202020204" pitchFamily="34" charset="0"/>
              </a:rPr>
              <a:t>𝐿𝜋=219.41119794412975 </a:t>
            </a:r>
            <a:r>
              <a:rPr lang="es-ES" sz="1400" b="1" err="1">
                <a:solidFill>
                  <a:schemeClr val="accent3"/>
                </a:solidFill>
                <a:latin typeface="Arial" panose="020B0604020202020204" pitchFamily="34" charset="0"/>
                <a:cs typeface="Arial" panose="020B0604020202020204" pitchFamily="34" charset="0"/>
              </a:rPr>
              <a:t>um</a:t>
            </a:r>
            <a:r>
              <a:rPr lang="es-ES" sz="1400">
                <a:latin typeface="Arial" panose="020B0604020202020204" pitchFamily="34" charset="0"/>
                <a:cs typeface="Arial" panose="020B0604020202020204" pitchFamily="34" charset="0"/>
              </a:rPr>
              <a:t>, parámetro clave para el dimensionado de la longitud del cuerpo MMI.</a:t>
            </a:r>
            <a:endParaRPr lang="en-US" sz="120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FE53CDEA-3E08-08F6-B127-09344419D770}"/>
              </a:ext>
            </a:extLst>
          </p:cNvPr>
          <p:cNvPicPr>
            <a:picLocks noChangeAspect="1"/>
          </p:cNvPicPr>
          <p:nvPr/>
        </p:nvPicPr>
        <p:blipFill>
          <a:blip r:embed="rId4"/>
          <a:stretch>
            <a:fillRect/>
          </a:stretch>
        </p:blipFill>
        <p:spPr>
          <a:xfrm>
            <a:off x="410802" y="1129846"/>
            <a:ext cx="3513840" cy="2508044"/>
          </a:xfrm>
          <a:prstGeom prst="rect">
            <a:avLst/>
          </a:prstGeom>
        </p:spPr>
      </p:pic>
      <p:pic>
        <p:nvPicPr>
          <p:cNvPr id="8" name="Imagen 7">
            <a:extLst>
              <a:ext uri="{FF2B5EF4-FFF2-40B4-BE49-F238E27FC236}">
                <a16:creationId xmlns:a16="http://schemas.microsoft.com/office/drawing/2014/main" id="{F4524C60-5264-C5E1-0BAB-CB6C78B75114}"/>
              </a:ext>
            </a:extLst>
          </p:cNvPr>
          <p:cNvPicPr>
            <a:picLocks noChangeAspect="1"/>
          </p:cNvPicPr>
          <p:nvPr/>
        </p:nvPicPr>
        <p:blipFill>
          <a:blip r:embed="rId5"/>
          <a:stretch>
            <a:fillRect/>
          </a:stretch>
        </p:blipFill>
        <p:spPr>
          <a:xfrm>
            <a:off x="4291207" y="1196165"/>
            <a:ext cx="3395181" cy="2375405"/>
          </a:xfrm>
          <a:prstGeom prst="rect">
            <a:avLst/>
          </a:prstGeom>
        </p:spPr>
      </p:pic>
      <p:pic>
        <p:nvPicPr>
          <p:cNvPr id="10" name="Imagen 9">
            <a:extLst>
              <a:ext uri="{FF2B5EF4-FFF2-40B4-BE49-F238E27FC236}">
                <a16:creationId xmlns:a16="http://schemas.microsoft.com/office/drawing/2014/main" id="{B1C66348-17E8-471A-3D45-461CA1AAB0AE}"/>
              </a:ext>
            </a:extLst>
          </p:cNvPr>
          <p:cNvPicPr>
            <a:picLocks noChangeAspect="1"/>
          </p:cNvPicPr>
          <p:nvPr/>
        </p:nvPicPr>
        <p:blipFill>
          <a:blip r:embed="rId6"/>
          <a:stretch>
            <a:fillRect/>
          </a:stretch>
        </p:blipFill>
        <p:spPr>
          <a:xfrm>
            <a:off x="7951965" y="963140"/>
            <a:ext cx="3728245" cy="2608430"/>
          </a:xfrm>
          <a:prstGeom prst="rect">
            <a:avLst/>
          </a:prstGeom>
        </p:spPr>
      </p:pic>
      <p:sp>
        <p:nvSpPr>
          <p:cNvPr id="11" name="CuadroTexto 10">
            <a:extLst>
              <a:ext uri="{FF2B5EF4-FFF2-40B4-BE49-F238E27FC236}">
                <a16:creationId xmlns:a16="http://schemas.microsoft.com/office/drawing/2014/main" id="{58825081-DEA0-BFFB-9B6F-D2E8F5E4912F}"/>
              </a:ext>
            </a:extLst>
          </p:cNvPr>
          <p:cNvSpPr txBox="1"/>
          <p:nvPr/>
        </p:nvSpPr>
        <p:spPr>
          <a:xfrm>
            <a:off x="8467275" y="1377330"/>
            <a:ext cx="2133600" cy="400110"/>
          </a:xfrm>
          <a:prstGeom prst="rect">
            <a:avLst/>
          </a:prstGeom>
          <a:noFill/>
          <a:ln w="28575">
            <a:solidFill>
              <a:schemeClr val="tx1"/>
            </a:solidFill>
          </a:ln>
        </p:spPr>
        <p:txBody>
          <a:bodyPr wrap="square" rtlCol="0">
            <a:spAutoFit/>
          </a:bodyPr>
          <a:lstStyle>
            <a:defPPr>
              <a:defRPr lang="es-ES"/>
            </a:defPPr>
            <a:lvl1pPr algn="ctr">
              <a:defRPr sz="2000" b="1"/>
            </a:lvl1pPr>
          </a:lstStyle>
          <a:p>
            <a:r>
              <a:rPr lang="es-ES" err="1"/>
              <a:t>mode_index</a:t>
            </a:r>
            <a:r>
              <a:rPr lang="es-ES"/>
              <a:t>=7</a:t>
            </a:r>
          </a:p>
        </p:txBody>
      </p:sp>
      <p:sp>
        <p:nvSpPr>
          <p:cNvPr id="12" name="CuadroTexto 11">
            <a:extLst>
              <a:ext uri="{FF2B5EF4-FFF2-40B4-BE49-F238E27FC236}">
                <a16:creationId xmlns:a16="http://schemas.microsoft.com/office/drawing/2014/main" id="{5C1C16D8-AE11-FBF5-9AED-854E159B82E6}"/>
              </a:ext>
            </a:extLst>
          </p:cNvPr>
          <p:cNvSpPr txBox="1"/>
          <p:nvPr/>
        </p:nvSpPr>
        <p:spPr>
          <a:xfrm>
            <a:off x="4703166" y="1377330"/>
            <a:ext cx="2133600" cy="400110"/>
          </a:xfrm>
          <a:prstGeom prst="rect">
            <a:avLst/>
          </a:prstGeom>
          <a:noFill/>
          <a:ln w="28575">
            <a:solidFill>
              <a:schemeClr val="tx1"/>
            </a:solidFill>
          </a:ln>
        </p:spPr>
        <p:txBody>
          <a:bodyPr wrap="square" rtlCol="0">
            <a:spAutoFit/>
          </a:bodyPr>
          <a:lstStyle>
            <a:defPPr>
              <a:defRPr lang="es-ES"/>
            </a:defPPr>
            <a:lvl1pPr algn="ctr">
              <a:defRPr sz="2000" b="1"/>
            </a:lvl1pPr>
          </a:lstStyle>
          <a:p>
            <a:r>
              <a:rPr lang="es-ES" err="1"/>
              <a:t>mode_index</a:t>
            </a:r>
            <a:r>
              <a:rPr lang="es-ES"/>
              <a:t>=1</a:t>
            </a:r>
          </a:p>
        </p:txBody>
      </p:sp>
      <p:sp>
        <p:nvSpPr>
          <p:cNvPr id="13" name="CuadroTexto 12">
            <a:extLst>
              <a:ext uri="{FF2B5EF4-FFF2-40B4-BE49-F238E27FC236}">
                <a16:creationId xmlns:a16="http://schemas.microsoft.com/office/drawing/2014/main" id="{76829B31-E59C-A573-D5B3-6FAA9B64C967}"/>
              </a:ext>
            </a:extLst>
          </p:cNvPr>
          <p:cNvSpPr txBox="1"/>
          <p:nvPr/>
        </p:nvSpPr>
        <p:spPr>
          <a:xfrm>
            <a:off x="646608" y="1377330"/>
            <a:ext cx="2281495" cy="400110"/>
          </a:xfrm>
          <a:prstGeom prst="rect">
            <a:avLst/>
          </a:prstGeom>
          <a:noFill/>
          <a:ln w="28575">
            <a:solidFill>
              <a:schemeClr val="tx1"/>
            </a:solidFill>
          </a:ln>
        </p:spPr>
        <p:txBody>
          <a:bodyPr wrap="square" rtlCol="0">
            <a:spAutoFit/>
          </a:bodyPr>
          <a:lstStyle/>
          <a:p>
            <a:pPr algn="ctr"/>
            <a:r>
              <a:rPr lang="es-ES" sz="2000" b="1" err="1"/>
              <a:t>mode_index</a:t>
            </a:r>
            <a:r>
              <a:rPr lang="es-ES" sz="2000" b="1"/>
              <a:t>=0</a:t>
            </a:r>
          </a:p>
        </p:txBody>
      </p:sp>
    </p:spTree>
    <p:extLst>
      <p:ext uri="{BB962C8B-B14F-4D97-AF65-F5344CB8AC3E}">
        <p14:creationId xmlns:p14="http://schemas.microsoft.com/office/powerpoint/2010/main" val="2051117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 – 6.1 2x2 Multimode Interference Coupler </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B5029729-ADF3-3B30-4FF9-83BE1DB82BD7}"/>
              </a:ext>
            </a:extLst>
          </p:cNvPr>
          <p:cNvSpPr txBox="1"/>
          <p:nvPr/>
        </p:nvSpPr>
        <p:spPr>
          <a:xfrm>
            <a:off x="640543" y="4795868"/>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El acoplador MMI 2×2 presenta una división de potencia casi 50:50. La potencia de salida total es 0.9075 y la pérdida en exceso es 0.4217 dB. El perfil de propagación confirma el fenómeno de autoimagen en la sección multimodo. Frente a un acoplador direccional, el MMI ofrece mayor tolerancia a variaciones de fabricación.</a:t>
            </a:r>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plots and console results</a:t>
            </a:r>
          </a:p>
        </p:txBody>
      </p:sp>
      <p:pic>
        <p:nvPicPr>
          <p:cNvPr id="5" name="Imagen 4">
            <a:extLst>
              <a:ext uri="{FF2B5EF4-FFF2-40B4-BE49-F238E27FC236}">
                <a16:creationId xmlns:a16="http://schemas.microsoft.com/office/drawing/2014/main" id="{AE4DC171-68D4-94C7-4519-453E3F5F1D75}"/>
              </a:ext>
            </a:extLst>
          </p:cNvPr>
          <p:cNvPicPr>
            <a:picLocks noChangeAspect="1"/>
          </p:cNvPicPr>
          <p:nvPr/>
        </p:nvPicPr>
        <p:blipFill>
          <a:blip r:embed="rId4"/>
          <a:stretch>
            <a:fillRect/>
          </a:stretch>
        </p:blipFill>
        <p:spPr>
          <a:xfrm>
            <a:off x="5500296" y="1747583"/>
            <a:ext cx="6221984" cy="2565880"/>
          </a:xfrm>
          <a:prstGeom prst="rect">
            <a:avLst/>
          </a:prstGeom>
        </p:spPr>
      </p:pic>
      <p:pic>
        <p:nvPicPr>
          <p:cNvPr id="11" name="Imagen 10">
            <a:extLst>
              <a:ext uri="{FF2B5EF4-FFF2-40B4-BE49-F238E27FC236}">
                <a16:creationId xmlns:a16="http://schemas.microsoft.com/office/drawing/2014/main" id="{0F994FBA-4EF4-5ED0-B379-7CC0F1ED2935}"/>
              </a:ext>
            </a:extLst>
          </p:cNvPr>
          <p:cNvPicPr>
            <a:picLocks noChangeAspect="1"/>
          </p:cNvPicPr>
          <p:nvPr/>
        </p:nvPicPr>
        <p:blipFill>
          <a:blip r:embed="rId5"/>
          <a:stretch>
            <a:fillRect/>
          </a:stretch>
        </p:blipFill>
        <p:spPr>
          <a:xfrm>
            <a:off x="885659" y="1596811"/>
            <a:ext cx="4648849" cy="2867425"/>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#6.2 – 2x2 Multimode Interference Coupler - Optimization</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600">
                <a:latin typeface="Arial" panose="020B0604020202020204" pitchFamily="34" charset="0"/>
                <a:cs typeface="Arial" panose="020B0604020202020204" pitchFamily="34" charset="0"/>
              </a:rPr>
              <a:t>Se </a:t>
            </a:r>
            <a:r>
              <a:rPr lang="en-US" sz="1600" err="1">
                <a:latin typeface="Arial" panose="020B0604020202020204" pitchFamily="34" charset="0"/>
                <a:cs typeface="Arial" panose="020B0604020202020204" pitchFamily="34" charset="0"/>
              </a:rPr>
              <a:t>observa</a:t>
            </a:r>
            <a:r>
              <a:rPr lang="en-US" sz="1600">
                <a:latin typeface="Arial" panose="020B0604020202020204" pitchFamily="34" charset="0"/>
                <a:cs typeface="Arial" panose="020B0604020202020204" pitchFamily="34" charset="0"/>
              </a:rPr>
              <a:t> en </a:t>
            </a:r>
            <a:r>
              <a:rPr lang="en-US" sz="1600" err="1">
                <a:latin typeface="Arial" panose="020B0604020202020204" pitchFamily="34" charset="0"/>
                <a:cs typeface="Arial" panose="020B0604020202020204" pitchFamily="34" charset="0"/>
              </a:rPr>
              <a:t>los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resultados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numéricos</a:t>
            </a:r>
            <a:r>
              <a:rPr lang="en-US" sz="1600">
                <a:latin typeface="Arial" panose="020B0604020202020204" pitchFamily="34" charset="0"/>
                <a:cs typeface="Arial" panose="020B0604020202020204" pitchFamily="34" charset="0"/>
              </a:rPr>
              <a:t> la </a:t>
            </a:r>
            <a:r>
              <a:rPr lang="en-US" sz="1600" err="1">
                <a:latin typeface="Arial" panose="020B0604020202020204" pitchFamily="34" charset="0"/>
                <a:cs typeface="Arial" panose="020B0604020202020204" pitchFamily="34" charset="0"/>
              </a:rPr>
              <a:t>mejora</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que</a:t>
            </a:r>
            <a:r>
              <a:rPr lang="en-US" sz="1600">
                <a:latin typeface="Arial" panose="020B0604020202020204" pitchFamily="34" charset="0"/>
                <a:cs typeface="Arial" panose="020B0604020202020204" pitchFamily="34" charset="0"/>
              </a:rPr>
              <a:t> ha </a:t>
            </a:r>
            <a:r>
              <a:rPr lang="en-US" sz="1600" err="1">
                <a:latin typeface="Arial" panose="020B0604020202020204" pitchFamily="34" charset="0"/>
                <a:cs typeface="Arial" panose="020B0604020202020204" pitchFamily="34" charset="0"/>
              </a:rPr>
              <a:t>resultado</a:t>
            </a:r>
            <a:r>
              <a:rPr lang="en-US" sz="1600">
                <a:latin typeface="Arial" panose="020B0604020202020204" pitchFamily="34" charset="0"/>
                <a:cs typeface="Arial" panose="020B0604020202020204" pitchFamily="34" charset="0"/>
              </a:rPr>
              <a:t> la </a:t>
            </a:r>
            <a:r>
              <a:rPr lang="en-US" sz="1600" err="1">
                <a:latin typeface="Arial" panose="020B0604020202020204" pitchFamily="34" charset="0"/>
                <a:cs typeface="Arial" panose="020B0604020202020204" pitchFamily="34" charset="0"/>
              </a:rPr>
              <a:t>optimización</a:t>
            </a:r>
            <a:r>
              <a:rPr lang="en-US" sz="1600">
                <a:latin typeface="Arial" panose="020B0604020202020204" pitchFamily="34" charset="0"/>
                <a:cs typeface="Arial" panose="020B0604020202020204" pitchFamily="34" charset="0"/>
              </a:rPr>
              <a:t> de la MMI con </a:t>
            </a:r>
            <a:r>
              <a:rPr lang="en-US" sz="1600" err="1">
                <a:latin typeface="Arial" panose="020B0604020202020204" pitchFamily="34" charset="0"/>
                <a:cs typeface="Arial" panose="020B0604020202020204" pitchFamily="34" charset="0"/>
              </a:rPr>
              <a:t>los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aumentos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diferenciales</a:t>
            </a:r>
            <a:r>
              <a:rPr lang="en-US" sz="1600">
                <a:latin typeface="Arial" panose="020B0604020202020204" pitchFamily="34" charset="0"/>
                <a:cs typeface="Arial" panose="020B0604020202020204" pitchFamily="34" charset="0"/>
              </a:rPr>
              <a:t> de la </a:t>
            </a:r>
            <a:r>
              <a:rPr lang="en-US" sz="1600" err="1">
                <a:latin typeface="Arial" panose="020B0604020202020204" pitchFamily="34" charset="0"/>
                <a:cs typeface="Arial" panose="020B0604020202020204" pitchFamily="34" charset="0"/>
              </a:rPr>
              <a:t>anchura</a:t>
            </a:r>
            <a:r>
              <a:rPr lang="en-US" sz="1600">
                <a:latin typeface="Arial" panose="020B0604020202020204" pitchFamily="34" charset="0"/>
                <a:cs typeface="Arial" panose="020B0604020202020204" pitchFamily="34" charset="0"/>
              </a:rPr>
              <a:t> y la </a:t>
            </a:r>
            <a:r>
              <a:rPr lang="en-US" sz="1600" err="1">
                <a:latin typeface="Arial" panose="020B0604020202020204" pitchFamily="34" charset="0"/>
                <a:cs typeface="Arial" panose="020B0604020202020204" pitchFamily="34" charset="0"/>
              </a:rPr>
              <a:t>longitud</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Concretamente</a:t>
            </a:r>
            <a:r>
              <a:rPr lang="en-US" sz="1600">
                <a:latin typeface="Arial" panose="020B0604020202020204" pitchFamily="34" charset="0"/>
                <a:cs typeface="Arial" panose="020B0604020202020204" pitchFamily="34" charset="0"/>
              </a:rPr>
              <a:t>, se ha </a:t>
            </a:r>
            <a:r>
              <a:rPr lang="en-US" sz="1600" err="1">
                <a:latin typeface="Arial" panose="020B0604020202020204" pitchFamily="34" charset="0"/>
                <a:cs typeface="Arial" panose="020B0604020202020204" pitchFamily="34" charset="0"/>
              </a:rPr>
              <a:t>mejorado</a:t>
            </a:r>
            <a:r>
              <a:rPr lang="en-US" sz="1600">
                <a:latin typeface="Arial" panose="020B0604020202020204" pitchFamily="34" charset="0"/>
                <a:cs typeface="Arial" panose="020B0604020202020204" pitchFamily="34" charset="0"/>
              </a:rPr>
              <a:t> la </a:t>
            </a:r>
            <a:r>
              <a:rPr lang="en-US" sz="1600" err="1">
                <a:latin typeface="Arial" panose="020B0604020202020204" pitchFamily="34" charset="0"/>
                <a:cs typeface="Arial" panose="020B0604020202020204" pitchFamily="34" charset="0"/>
              </a:rPr>
              <a:t>proporción</a:t>
            </a:r>
            <a:r>
              <a:rPr lang="en-US" sz="1600">
                <a:latin typeface="Arial" panose="020B0604020202020204" pitchFamily="34" charset="0"/>
                <a:cs typeface="Arial" panose="020B0604020202020204" pitchFamily="34" charset="0"/>
              </a:rPr>
              <a:t> de </a:t>
            </a:r>
            <a:r>
              <a:rPr lang="en-US" sz="1600" err="1">
                <a:latin typeface="Arial" panose="020B0604020202020204" pitchFamily="34" charset="0"/>
                <a:cs typeface="Arial" panose="020B0604020202020204" pitchFamily="34" charset="0"/>
              </a:rPr>
              <a:t>los</a:t>
            </a:r>
            <a:r>
              <a:rPr lang="en-US" sz="1600">
                <a:latin typeface="Arial" panose="020B0604020202020204" pitchFamily="34" charset="0"/>
                <a:cs typeface="Arial" panose="020B0604020202020204" pitchFamily="34" charset="0"/>
              </a:rPr>
              <a:t> ratios, </a:t>
            </a:r>
            <a:r>
              <a:rPr lang="en-US" sz="1600" err="1">
                <a:latin typeface="Arial" panose="020B0604020202020204" pitchFamily="34" charset="0"/>
                <a:cs typeface="Arial" panose="020B0604020202020204" pitchFamily="34" charset="0"/>
              </a:rPr>
              <a:t>que</a:t>
            </a:r>
            <a:r>
              <a:rPr lang="en-US" sz="1600">
                <a:latin typeface="Arial" panose="020B0604020202020204" pitchFamily="34" charset="0"/>
                <a:cs typeface="Arial" panose="020B0604020202020204" pitchFamily="34" charset="0"/>
              </a:rPr>
              <a:t> en </a:t>
            </a:r>
            <a:r>
              <a:rPr lang="en-US" sz="1600" err="1">
                <a:latin typeface="Arial" panose="020B0604020202020204" pitchFamily="34" charset="0"/>
                <a:cs typeface="Arial" panose="020B0604020202020204" pitchFamily="34" charset="0"/>
              </a:rPr>
              <a:t>este</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caso</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sí</a:t>
            </a:r>
            <a:r>
              <a:rPr lang="en-US" sz="1600">
                <a:latin typeface="Arial" panose="020B0604020202020204" pitchFamily="34" charset="0"/>
                <a:cs typeface="Arial" panose="020B0604020202020204" pitchFamily="34" charset="0"/>
              </a:rPr>
              <a:t> se </a:t>
            </a:r>
            <a:r>
              <a:rPr lang="en-US" sz="1600" err="1">
                <a:latin typeface="Arial" panose="020B0604020202020204" pitchFamily="34" charset="0"/>
                <a:cs typeface="Arial" panose="020B0604020202020204" pitchFamily="34" charset="0"/>
              </a:rPr>
              <a:t>asemejan</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más</a:t>
            </a:r>
            <a:r>
              <a:rPr lang="en-US" sz="1600">
                <a:latin typeface="Arial" panose="020B0604020202020204" pitchFamily="34" charset="0"/>
                <a:cs typeface="Arial" panose="020B0604020202020204" pitchFamily="34" charset="0"/>
              </a:rPr>
              <a:t> a un 50:50, y también la </a:t>
            </a:r>
            <a:r>
              <a:rPr lang="en-US" sz="1600" err="1">
                <a:latin typeface="Arial" panose="020B0604020202020204" pitchFamily="34" charset="0"/>
                <a:cs typeface="Arial" panose="020B0604020202020204" pitchFamily="34" charset="0"/>
              </a:rPr>
              <a:t>disminución</a:t>
            </a:r>
            <a:r>
              <a:rPr lang="en-US" sz="1600">
                <a:latin typeface="Arial" panose="020B0604020202020204" pitchFamily="34" charset="0"/>
                <a:cs typeface="Arial" panose="020B0604020202020204" pitchFamily="34" charset="0"/>
              </a:rPr>
              <a:t> del excess loss.</a:t>
            </a: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 and console results</a:t>
            </a:r>
          </a:p>
          <a:p>
            <a:pPr algn="ctr"/>
            <a:endParaRPr lang="en-US"/>
          </a:p>
          <a:p>
            <a:pPr algn="ctr"/>
            <a:endParaRPr lang="en-US"/>
          </a:p>
          <a:p>
            <a:pPr algn="r"/>
            <a:r>
              <a:rPr lang="en-US" sz="1600" b="1"/>
              <a:t>Target</a:t>
            </a:r>
            <a:r>
              <a:rPr lang="en-US" sz="1600"/>
              <a:t>: make equal ratio over outputs (even if not 0.5) and minimize excess loss (even if not 0.0 dB)</a:t>
            </a:r>
          </a:p>
          <a:p>
            <a:pPr algn="r"/>
            <a:r>
              <a:rPr lang="en-US" sz="1600"/>
              <a:t>With same settings of previous LO, now adjust try to manually optimize the MMI by changing iteratively:</a:t>
            </a:r>
          </a:p>
          <a:p>
            <a:pPr algn="r"/>
            <a:r>
              <a:rPr lang="en-US" sz="1600"/>
              <a:t>- Change </a:t>
            </a:r>
            <a:r>
              <a:rPr lang="en-US" sz="1600" err="1"/>
              <a:t>dL_MMI</a:t>
            </a:r>
            <a:endParaRPr lang="en-US" sz="1600"/>
          </a:p>
          <a:p>
            <a:pPr algn="r"/>
            <a:r>
              <a:rPr lang="en-US" sz="1600"/>
              <a:t>- Change I/O waveguide position +/- </a:t>
            </a:r>
            <a:r>
              <a:rPr lang="en-US" sz="1600" err="1"/>
              <a:t>dy</a:t>
            </a:r>
            <a:endParaRPr lang="en-US" sz="1600"/>
          </a:p>
          <a:p>
            <a:pPr algn="r"/>
            <a:r>
              <a:rPr lang="en-US" sz="1600" b="1"/>
              <a:t>Hints</a:t>
            </a:r>
            <a:r>
              <a:rPr lang="en-US" sz="1600"/>
              <a:t>: observe the 2D EME propagation results to guide you to the best settings of a) and b).</a:t>
            </a:r>
          </a:p>
        </p:txBody>
      </p:sp>
      <p:pic>
        <p:nvPicPr>
          <p:cNvPr id="5" name="Picture 4">
            <a:extLst>
              <a:ext uri="{FF2B5EF4-FFF2-40B4-BE49-F238E27FC236}">
                <a16:creationId xmlns:a16="http://schemas.microsoft.com/office/drawing/2014/main" id="{082D0771-5508-7DA8-6285-2F1D96F5B044}"/>
              </a:ext>
            </a:extLst>
          </p:cNvPr>
          <p:cNvPicPr>
            <a:picLocks noChangeAspect="1"/>
          </p:cNvPicPr>
          <p:nvPr/>
        </p:nvPicPr>
        <p:blipFill>
          <a:blip r:embed="rId4"/>
          <a:stretch>
            <a:fillRect/>
          </a:stretch>
        </p:blipFill>
        <p:spPr>
          <a:xfrm>
            <a:off x="717087" y="1602007"/>
            <a:ext cx="7274246" cy="3040558"/>
          </a:xfrm>
          <a:prstGeom prst="rect">
            <a:avLst/>
          </a:prstGeom>
        </p:spPr>
      </p:pic>
      <p:pic>
        <p:nvPicPr>
          <p:cNvPr id="9" name="Picture 8">
            <a:extLst>
              <a:ext uri="{FF2B5EF4-FFF2-40B4-BE49-F238E27FC236}">
                <a16:creationId xmlns:a16="http://schemas.microsoft.com/office/drawing/2014/main" id="{9ECE079B-E553-DE5A-D7E3-A7626F21E5DF}"/>
              </a:ext>
            </a:extLst>
          </p:cNvPr>
          <p:cNvPicPr>
            <a:picLocks noChangeAspect="1"/>
          </p:cNvPicPr>
          <p:nvPr/>
        </p:nvPicPr>
        <p:blipFill>
          <a:blip r:embed="rId5"/>
          <a:stretch>
            <a:fillRect/>
          </a:stretch>
        </p:blipFill>
        <p:spPr>
          <a:xfrm>
            <a:off x="7991333" y="1602007"/>
            <a:ext cx="3776177" cy="3040558"/>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#6.3 – 2x2 Multimode Interference Coupler – Optimization (II)</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600">
                <a:latin typeface="Arial" panose="020B0604020202020204" pitchFamily="34" charset="0"/>
                <a:cs typeface="Arial" panose="020B0604020202020204" pitchFamily="34" charset="0"/>
              </a:rPr>
              <a:t>De nuevo, se </a:t>
            </a:r>
            <a:r>
              <a:rPr lang="en-US" sz="1600" err="1">
                <a:latin typeface="Arial" panose="020B0604020202020204" pitchFamily="34" charset="0"/>
                <a:cs typeface="Arial" panose="020B0604020202020204" pitchFamily="34" charset="0"/>
              </a:rPr>
              <a:t>observa</a:t>
            </a:r>
            <a:r>
              <a:rPr lang="en-US" sz="1600">
                <a:latin typeface="Arial" panose="020B0604020202020204" pitchFamily="34" charset="0"/>
                <a:cs typeface="Arial" panose="020B0604020202020204" pitchFamily="34" charset="0"/>
              </a:rPr>
              <a:t> en </a:t>
            </a:r>
            <a:r>
              <a:rPr lang="en-US" sz="1600" err="1">
                <a:latin typeface="Arial" panose="020B0604020202020204" pitchFamily="34" charset="0"/>
                <a:cs typeface="Arial" panose="020B0604020202020204" pitchFamily="34" charset="0"/>
              </a:rPr>
              <a:t>los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resultados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numéricos</a:t>
            </a:r>
            <a:r>
              <a:rPr lang="en-US" sz="1600">
                <a:latin typeface="Arial" panose="020B0604020202020204" pitchFamily="34" charset="0"/>
                <a:cs typeface="Arial" panose="020B0604020202020204" pitchFamily="34" charset="0"/>
              </a:rPr>
              <a:t> la </a:t>
            </a:r>
            <a:r>
              <a:rPr lang="en-US" sz="1600" err="1">
                <a:latin typeface="Arial" panose="020B0604020202020204" pitchFamily="34" charset="0"/>
                <a:cs typeface="Arial" panose="020B0604020202020204" pitchFamily="34" charset="0"/>
              </a:rPr>
              <a:t>mejora</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que</a:t>
            </a:r>
            <a:r>
              <a:rPr lang="en-US" sz="1600">
                <a:latin typeface="Arial" panose="020B0604020202020204" pitchFamily="34" charset="0"/>
                <a:cs typeface="Arial" panose="020B0604020202020204" pitchFamily="34" charset="0"/>
              </a:rPr>
              <a:t> ha </a:t>
            </a:r>
            <a:r>
              <a:rPr lang="en-US" sz="1600" err="1">
                <a:latin typeface="Arial" panose="020B0604020202020204" pitchFamily="34" charset="0"/>
                <a:cs typeface="Arial" panose="020B0604020202020204" pitchFamily="34" charset="0"/>
              </a:rPr>
              <a:t>resultado</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esta</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segunda</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optimización</a:t>
            </a:r>
            <a:r>
              <a:rPr lang="en-US" sz="1600">
                <a:latin typeface="Arial" panose="020B0604020202020204" pitchFamily="34" charset="0"/>
                <a:cs typeface="Arial" panose="020B0604020202020204" pitchFamily="34" charset="0"/>
              </a:rPr>
              <a:t> de la MMI con </a:t>
            </a:r>
            <a:r>
              <a:rPr lang="en-US" sz="1600" err="1">
                <a:latin typeface="Arial" panose="020B0604020202020204" pitchFamily="34" charset="0"/>
                <a:cs typeface="Arial" panose="020B0604020202020204" pitchFamily="34" charset="0"/>
              </a:rPr>
              <a:t>los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aumentos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diferenciales</a:t>
            </a:r>
            <a:r>
              <a:rPr lang="en-US" sz="1600">
                <a:latin typeface="Arial" panose="020B0604020202020204" pitchFamily="34" charset="0"/>
                <a:cs typeface="Arial" panose="020B0604020202020204" pitchFamily="34" charset="0"/>
              </a:rPr>
              <a:t> de la </a:t>
            </a:r>
            <a:r>
              <a:rPr lang="en-US" sz="1600" err="1">
                <a:latin typeface="Arial" panose="020B0604020202020204" pitchFamily="34" charset="0"/>
                <a:cs typeface="Arial" panose="020B0604020202020204" pitchFamily="34" charset="0"/>
              </a:rPr>
              <a:t>anchura</a:t>
            </a:r>
            <a:r>
              <a:rPr lang="en-US" sz="1600">
                <a:latin typeface="Arial" panose="020B0604020202020204" pitchFamily="34" charset="0"/>
                <a:cs typeface="Arial" panose="020B0604020202020204" pitchFamily="34" charset="0"/>
              </a:rPr>
              <a:t> y la </a:t>
            </a:r>
            <a:r>
              <a:rPr lang="en-US" sz="1600" err="1">
                <a:latin typeface="Arial" panose="020B0604020202020204" pitchFamily="34" charset="0"/>
                <a:cs typeface="Arial" panose="020B0604020202020204" pitchFamily="34" charset="0"/>
              </a:rPr>
              <a:t>longitud</a:t>
            </a:r>
            <a:r>
              <a:rPr lang="en-US" sz="1600">
                <a:latin typeface="Arial" panose="020B0604020202020204" pitchFamily="34" charset="0"/>
                <a:cs typeface="Arial" panose="020B0604020202020204" pitchFamily="34" charset="0"/>
              </a:rPr>
              <a:t>. Si bien es </a:t>
            </a:r>
            <a:r>
              <a:rPr lang="en-US" sz="1600" err="1">
                <a:latin typeface="Arial" panose="020B0604020202020204" pitchFamily="34" charset="0"/>
                <a:cs typeface="Arial" panose="020B0604020202020204" pitchFamily="34" charset="0"/>
              </a:rPr>
              <a:t>cierto</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que</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esta</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vez</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sí</a:t>
            </a:r>
            <a:r>
              <a:rPr lang="en-US" sz="1600">
                <a:latin typeface="Arial" panose="020B0604020202020204" pitchFamily="34" charset="0"/>
                <a:cs typeface="Arial" panose="020B0604020202020204" pitchFamily="34" charset="0"/>
              </a:rPr>
              <a:t> se ha </a:t>
            </a:r>
            <a:r>
              <a:rPr lang="en-US" sz="1600" err="1">
                <a:latin typeface="Arial" panose="020B0604020202020204" pitchFamily="34" charset="0"/>
                <a:cs typeface="Arial" panose="020B0604020202020204" pitchFamily="34" charset="0"/>
              </a:rPr>
              <a:t>conseguido</a:t>
            </a:r>
            <a:r>
              <a:rPr lang="en-US" sz="1600">
                <a:latin typeface="Arial" panose="020B0604020202020204" pitchFamily="34" charset="0"/>
                <a:cs typeface="Arial" panose="020B0604020202020204" pitchFamily="34" charset="0"/>
              </a:rPr>
              <a:t> un major excess loss (&lt;0.1 dB), </a:t>
            </a:r>
            <a:r>
              <a:rPr lang="en-US" sz="1600" err="1">
                <a:latin typeface="Arial" panose="020B0604020202020204" pitchFamily="34" charset="0"/>
                <a:cs typeface="Arial" panose="020B0604020202020204" pitchFamily="34" charset="0"/>
              </a:rPr>
              <a:t>los</a:t>
            </a:r>
            <a:r>
              <a:rPr lang="en-US" sz="1600">
                <a:latin typeface="Arial" panose="020B0604020202020204" pitchFamily="34" charset="0"/>
                <a:cs typeface="Arial" panose="020B0604020202020204" pitchFamily="34" charset="0"/>
              </a:rPr>
              <a:t> ratios de </a:t>
            </a:r>
            <a:r>
              <a:rPr lang="en-US" sz="1600" err="1">
                <a:latin typeface="Arial" panose="020B0604020202020204" pitchFamily="34" charset="0"/>
                <a:cs typeface="Arial" panose="020B0604020202020204" pitchFamily="34" charset="0"/>
              </a:rPr>
              <a:t>salida</a:t>
            </a:r>
            <a:r>
              <a:rPr lang="en-US" sz="1600">
                <a:latin typeface="Arial" panose="020B0604020202020204" pitchFamily="34" charset="0"/>
                <a:cs typeface="Arial" panose="020B0604020202020204" pitchFamily="34" charset="0"/>
              </a:rPr>
              <a:t> se </a:t>
            </a:r>
            <a:r>
              <a:rPr lang="en-US" sz="1600" err="1">
                <a:latin typeface="Arial" panose="020B0604020202020204" pitchFamily="34" charset="0"/>
                <a:cs typeface="Arial" panose="020B0604020202020204" pitchFamily="34" charset="0"/>
              </a:rPr>
              <a:t>han</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alejado</a:t>
            </a:r>
            <a:r>
              <a:rPr lang="en-US" sz="1600">
                <a:latin typeface="Arial" panose="020B0604020202020204" pitchFamily="34" charset="0"/>
                <a:cs typeface="Arial" panose="020B0604020202020204" pitchFamily="34" charset="0"/>
              </a:rPr>
              <a:t> de ese 50:50 </a:t>
            </a:r>
            <a:r>
              <a:rPr lang="en-US" sz="1600" err="1">
                <a:latin typeface="Arial" panose="020B0604020202020204" pitchFamily="34" charset="0"/>
                <a:cs typeface="Arial" panose="020B0604020202020204" pitchFamily="34" charset="0"/>
              </a:rPr>
              <a:t>objetivo</a:t>
            </a:r>
            <a:r>
              <a:rPr lang="en-US" sz="1600">
                <a:latin typeface="Arial" panose="020B0604020202020204" pitchFamily="34" charset="0"/>
                <a:cs typeface="Arial" panose="020B0604020202020204" pitchFamily="34" charset="0"/>
              </a:rPr>
              <a:t>.</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 and console results</a:t>
            </a:r>
          </a:p>
          <a:p>
            <a:pPr algn="ctr"/>
            <a:endParaRPr lang="en-US"/>
          </a:p>
          <a:p>
            <a:pPr algn="ctr"/>
            <a:endParaRPr lang="en-US"/>
          </a:p>
          <a:p>
            <a:pPr algn="r"/>
            <a:r>
              <a:rPr lang="en-US" sz="1600" b="1"/>
              <a:t>Target</a:t>
            </a:r>
            <a:r>
              <a:rPr lang="en-US" sz="1600"/>
              <a:t>: make ratio over outputs 0.5 + excess loss &lt; 0.1 dB</a:t>
            </a:r>
          </a:p>
          <a:p>
            <a:pPr algn="r"/>
            <a:r>
              <a:rPr lang="en-US" sz="1600"/>
              <a:t>With same settings of previous LO, now modify the notebook so I/O waveguides have a different width. </a:t>
            </a:r>
          </a:p>
          <a:p>
            <a:pPr algn="r"/>
            <a:r>
              <a:rPr lang="en-US" sz="1600" u="sng"/>
              <a:t>- The nominal I/O waveguide width you have been using is 1.0 µm, increase it.</a:t>
            </a:r>
          </a:p>
          <a:p>
            <a:pPr algn="r"/>
            <a:r>
              <a:rPr lang="en-US" sz="1600" b="1"/>
              <a:t>(Warning</a:t>
            </a:r>
            <a:r>
              <a:rPr lang="en-US" sz="1600"/>
              <a:t>! Every time you change the I/O waveguide width you have to re-run modes calculation)</a:t>
            </a:r>
          </a:p>
          <a:p>
            <a:pPr algn="r"/>
            <a:r>
              <a:rPr lang="en-US" sz="1600" b="1"/>
              <a:t>Hints</a:t>
            </a:r>
            <a:r>
              <a:rPr lang="en-US" sz="1600"/>
              <a:t>: observe the 2D EME propagation results to guide you to the best settings of a) and b).</a:t>
            </a:r>
          </a:p>
        </p:txBody>
      </p:sp>
      <p:pic>
        <p:nvPicPr>
          <p:cNvPr id="5" name="Picture 4">
            <a:extLst>
              <a:ext uri="{FF2B5EF4-FFF2-40B4-BE49-F238E27FC236}">
                <a16:creationId xmlns:a16="http://schemas.microsoft.com/office/drawing/2014/main" id="{B3E5AB29-695F-B1C5-B09F-59846598837D}"/>
              </a:ext>
            </a:extLst>
          </p:cNvPr>
          <p:cNvPicPr>
            <a:picLocks noChangeAspect="1"/>
          </p:cNvPicPr>
          <p:nvPr/>
        </p:nvPicPr>
        <p:blipFill>
          <a:blip r:embed="rId4"/>
          <a:stretch>
            <a:fillRect/>
          </a:stretch>
        </p:blipFill>
        <p:spPr>
          <a:xfrm>
            <a:off x="640245" y="1419289"/>
            <a:ext cx="7567612" cy="3147591"/>
          </a:xfrm>
          <a:prstGeom prst="rect">
            <a:avLst/>
          </a:prstGeom>
        </p:spPr>
      </p:pic>
      <p:pic>
        <p:nvPicPr>
          <p:cNvPr id="9" name="Picture 8">
            <a:extLst>
              <a:ext uri="{FF2B5EF4-FFF2-40B4-BE49-F238E27FC236}">
                <a16:creationId xmlns:a16="http://schemas.microsoft.com/office/drawing/2014/main" id="{CFB06563-6FB7-67BD-BDF5-0CB681AA8AD5}"/>
              </a:ext>
            </a:extLst>
          </p:cNvPr>
          <p:cNvPicPr>
            <a:picLocks noChangeAspect="1"/>
          </p:cNvPicPr>
          <p:nvPr/>
        </p:nvPicPr>
        <p:blipFill>
          <a:blip r:embed="rId5"/>
          <a:stretch>
            <a:fillRect/>
          </a:stretch>
        </p:blipFill>
        <p:spPr>
          <a:xfrm>
            <a:off x="8194562" y="1905000"/>
            <a:ext cx="3542908" cy="2763735"/>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#7 – 1x4 Multimode Interference Coupler </a:t>
            </a:r>
            <a:br>
              <a:rPr lang="en-US" sz="2500"/>
            </a:br>
            <a:r>
              <a:rPr lang="en-US" b="0"/>
              <a:t>Wavelength 1.55 µm, </a:t>
            </a:r>
            <a:r>
              <a:rPr lang="en-US" b="0" err="1"/>
              <a:t>wMMI</a:t>
            </a:r>
            <a:r>
              <a:rPr lang="en-US" b="0"/>
              <a:t> = 12 µm</a:t>
            </a:r>
            <a:endParaRPr lang="en-US" sz="2500" b="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738664"/>
          </a:xfrm>
          <a:prstGeom prst="rect">
            <a:avLst/>
          </a:prstGeom>
          <a:solidFill>
            <a:schemeClr val="bg1">
              <a:lumMod val="95000"/>
            </a:schemeClr>
          </a:solidFill>
          <a:ln w="28575">
            <a:solidFill>
              <a:srgbClr val="E0700D"/>
            </a:solidFill>
          </a:ln>
        </p:spPr>
        <p:txBody>
          <a:bodyPr wrap="square" rtlCol="0">
            <a:spAutoFit/>
          </a:bodyPr>
          <a:lstStyle/>
          <a:p>
            <a:pPr algn="just"/>
            <a:r>
              <a:rPr lang="en-US" sz="1400">
                <a:latin typeface="Arial" panose="020B0604020202020204" pitchFamily="34" charset="0"/>
                <a:cs typeface="Arial" panose="020B0604020202020204" pitchFamily="34" charset="0"/>
              </a:rPr>
              <a:t>Para </a:t>
            </a:r>
            <a:r>
              <a:rPr lang="en-US" sz="1400" err="1">
                <a:latin typeface="Arial" panose="020B0604020202020204" pitchFamily="34" charset="0"/>
                <a:cs typeface="Arial" panose="020B0604020202020204" pitchFamily="34" charset="0"/>
              </a:rPr>
              <a:t>obtener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estos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resultados</a:t>
            </a:r>
            <a:r>
              <a:rPr lang="en-US" sz="1400">
                <a:latin typeface="Arial" panose="020B0604020202020204" pitchFamily="34" charset="0"/>
                <a:cs typeface="Arial" panose="020B0604020202020204" pitchFamily="34" charset="0"/>
              </a:rPr>
              <a:t>, se ha </a:t>
            </a:r>
            <a:r>
              <a:rPr lang="en-US" sz="1400" err="1">
                <a:latin typeface="Arial" panose="020B0604020202020204" pitchFamily="34" charset="0"/>
                <a:cs typeface="Arial" panose="020B0604020202020204" pitchFamily="34" charset="0"/>
              </a:rPr>
              <a:t>definido</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geometría</a:t>
            </a:r>
            <a:r>
              <a:rPr lang="en-US" sz="1400">
                <a:latin typeface="Arial" panose="020B0604020202020204" pitchFamily="34" charset="0"/>
                <a:cs typeface="Arial" panose="020B0604020202020204" pitchFamily="34" charset="0"/>
              </a:rPr>
              <a:t> de un MMI de 12.0 um de ancho y 0.95 de ancho de </a:t>
            </a:r>
            <a:r>
              <a:rPr lang="en-US" sz="1400" err="1">
                <a:latin typeface="Arial" panose="020B0604020202020204" pitchFamily="34" charset="0"/>
                <a:cs typeface="Arial" panose="020B0604020202020204" pitchFamily="34" charset="0"/>
              </a:rPr>
              <a:t>guía</a:t>
            </a:r>
            <a:r>
              <a:rPr lang="en-US" sz="1400">
                <a:latin typeface="Arial" panose="020B0604020202020204" pitchFamily="34" charset="0"/>
                <a:cs typeface="Arial" panose="020B0604020202020204" pitchFamily="34" charset="0"/>
              </a:rPr>
              <a:t>. Como </a:t>
            </a:r>
            <a:r>
              <a:rPr lang="en-US" sz="1400" err="1">
                <a:latin typeface="Arial" panose="020B0604020202020204" pitchFamily="34" charset="0"/>
                <a:cs typeface="Arial" panose="020B0604020202020204" pitchFamily="34" charset="0"/>
              </a:rPr>
              <a:t>objetivo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debe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haber</a:t>
            </a:r>
            <a:r>
              <a:rPr lang="en-US" sz="1400">
                <a:latin typeface="Arial" panose="020B0604020202020204" pitchFamily="34" charset="0"/>
                <a:cs typeface="Arial" panose="020B0604020202020204" pitchFamily="34" charset="0"/>
              </a:rPr>
              <a:t> 1 input y 4 outputs, e </a:t>
            </a:r>
            <a:r>
              <a:rPr lang="en-US" sz="1400" err="1">
                <a:latin typeface="Arial" panose="020B0604020202020204" pitchFamily="34" charset="0"/>
                <a:cs typeface="Arial" panose="020B0604020202020204" pitchFamily="34" charset="0"/>
              </a:rPr>
              <a:t>idealmente</a:t>
            </a:r>
            <a:r>
              <a:rPr lang="en-US" sz="1400">
                <a:latin typeface="Arial" panose="020B0604020202020204" pitchFamily="34" charset="0"/>
                <a:cs typeface="Arial" panose="020B0604020202020204" pitchFamily="34" charset="0"/>
              </a:rPr>
              <a:t> un </a:t>
            </a:r>
            <a:r>
              <a:rPr lang="en-US" sz="1400" err="1">
                <a:latin typeface="Arial" panose="020B0604020202020204" pitchFamily="34" charset="0"/>
                <a:cs typeface="Arial" panose="020B0604020202020204" pitchFamily="34" charset="0"/>
              </a:rPr>
              <a:t>reparto</a:t>
            </a:r>
            <a:r>
              <a:rPr lang="en-US" sz="1400">
                <a:latin typeface="Arial" panose="020B0604020202020204" pitchFamily="34" charset="0"/>
                <a:cs typeface="Arial" panose="020B0604020202020204" pitchFamily="34" charset="0"/>
              </a:rPr>
              <a:t> del 25% de la luz en </a:t>
            </a:r>
            <a:r>
              <a:rPr lang="en-US" sz="1400" err="1">
                <a:latin typeface="Arial" panose="020B0604020202020204" pitchFamily="34" charset="0"/>
                <a:cs typeface="Arial" panose="020B0604020202020204" pitchFamily="34" charset="0"/>
              </a:rPr>
              <a:t>cada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salida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además</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menos</a:t>
            </a:r>
            <a:r>
              <a:rPr lang="en-US" sz="1400">
                <a:latin typeface="Arial" panose="020B0604020202020204" pitchFamily="34" charset="0"/>
                <a:cs typeface="Arial" panose="020B0604020202020204" pitchFamily="34" charset="0"/>
              </a:rPr>
              <a:t> de 0.1 dB de excess loss. </a:t>
            </a:r>
          </a:p>
          <a:p>
            <a:pPr algn="just"/>
            <a:r>
              <a:rPr lang="en-US" sz="1400">
                <a:latin typeface="Arial" panose="020B0604020202020204" pitchFamily="34" charset="0"/>
                <a:cs typeface="Arial" panose="020B0604020202020204" pitchFamily="34" charset="0"/>
              </a:rPr>
              <a:t>La </a:t>
            </a:r>
            <a:r>
              <a:rPr lang="en-US" sz="1400" err="1">
                <a:latin typeface="Arial" panose="020B0604020202020204" pitchFamily="34" charset="0"/>
                <a:cs typeface="Arial" panose="020B0604020202020204" pitchFamily="34" charset="0"/>
              </a:rPr>
              <a:t>obtención</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mejores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resultados</a:t>
            </a:r>
            <a:r>
              <a:rPr lang="en-US" sz="1400">
                <a:latin typeface="Arial" panose="020B0604020202020204" pitchFamily="34" charset="0"/>
                <a:cs typeface="Arial" panose="020B0604020202020204" pitchFamily="34" charset="0"/>
              </a:rPr>
              <a:t> se </a:t>
            </a:r>
            <a:r>
              <a:rPr lang="en-US" sz="1400" err="1">
                <a:latin typeface="Arial" panose="020B0604020202020204" pitchFamily="34" charset="0"/>
                <a:cs typeface="Arial" panose="020B0604020202020204" pitchFamily="34" charset="0"/>
              </a:rPr>
              <a:t>obtuvo</a:t>
            </a:r>
            <a:r>
              <a:rPr lang="en-US" sz="1400">
                <a:latin typeface="Arial" panose="020B0604020202020204" pitchFamily="34" charset="0"/>
                <a:cs typeface="Arial" panose="020B0604020202020204" pitchFamily="34" charset="0"/>
              </a:rPr>
              <a:t> con la </a:t>
            </a:r>
            <a:r>
              <a:rPr lang="en-US" sz="1400" err="1">
                <a:latin typeface="Arial" panose="020B0604020202020204" pitchFamily="34" charset="0"/>
                <a:cs typeface="Arial" panose="020B0604020202020204" pitchFamily="34" charset="0"/>
              </a:rPr>
              <a:t>optimización</a:t>
            </a:r>
            <a:r>
              <a:rPr lang="en-US" sz="1400">
                <a:latin typeface="Arial" panose="020B0604020202020204" pitchFamily="34" charset="0"/>
                <a:cs typeface="Arial" panose="020B0604020202020204" pitchFamily="34" charset="0"/>
              </a:rPr>
              <a:t> manual de la longitude de la mmi. </a:t>
            </a:r>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04372" y="2107194"/>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plots and console results</a:t>
            </a:r>
          </a:p>
        </p:txBody>
      </p:sp>
      <p:sp>
        <p:nvSpPr>
          <p:cNvPr id="11" name="CuadroTexto 10">
            <a:extLst>
              <a:ext uri="{FF2B5EF4-FFF2-40B4-BE49-F238E27FC236}">
                <a16:creationId xmlns:a16="http://schemas.microsoft.com/office/drawing/2014/main" id="{B8157C02-A566-3F59-4898-B4704F93AAD5}"/>
              </a:ext>
            </a:extLst>
          </p:cNvPr>
          <p:cNvSpPr txBox="1"/>
          <p:nvPr/>
        </p:nvSpPr>
        <p:spPr>
          <a:xfrm>
            <a:off x="2738120" y="4130345"/>
            <a:ext cx="2986992" cy="369332"/>
          </a:xfrm>
          <a:prstGeom prst="rect">
            <a:avLst/>
          </a:prstGeom>
          <a:noFill/>
        </p:spPr>
        <p:txBody>
          <a:bodyPr wrap="square">
            <a:spAutoFit/>
          </a:bodyPr>
          <a:lstStyle/>
          <a:p>
            <a:r>
              <a:rPr lang="es-ES" err="1"/>
              <a:t>L_total</a:t>
            </a:r>
            <a:r>
              <a:rPr lang="es-ES"/>
              <a:t> = 41.0886 </a:t>
            </a:r>
            <a:r>
              <a:rPr lang="es-ES" err="1"/>
              <a:t>um</a:t>
            </a:r>
            <a:endParaRPr lang="es-ES"/>
          </a:p>
        </p:txBody>
      </p:sp>
      <p:pic>
        <p:nvPicPr>
          <p:cNvPr id="6" name="Picture 5">
            <a:extLst>
              <a:ext uri="{FF2B5EF4-FFF2-40B4-BE49-F238E27FC236}">
                <a16:creationId xmlns:a16="http://schemas.microsoft.com/office/drawing/2014/main" id="{DFB95B8A-2A3E-274D-EFBD-32B7C0B6E502}"/>
              </a:ext>
            </a:extLst>
          </p:cNvPr>
          <p:cNvPicPr>
            <a:picLocks noChangeAspect="1"/>
          </p:cNvPicPr>
          <p:nvPr/>
        </p:nvPicPr>
        <p:blipFill>
          <a:blip r:embed="rId4"/>
          <a:stretch>
            <a:fillRect/>
          </a:stretch>
        </p:blipFill>
        <p:spPr>
          <a:xfrm>
            <a:off x="677940" y="1474567"/>
            <a:ext cx="5467350" cy="2524125"/>
          </a:xfrm>
          <a:prstGeom prst="rect">
            <a:avLst/>
          </a:prstGeom>
        </p:spPr>
      </p:pic>
      <p:pic>
        <p:nvPicPr>
          <p:cNvPr id="12" name="Picture 11">
            <a:extLst>
              <a:ext uri="{FF2B5EF4-FFF2-40B4-BE49-F238E27FC236}">
                <a16:creationId xmlns:a16="http://schemas.microsoft.com/office/drawing/2014/main" id="{D40C9E6E-6CFE-0FE7-60C4-A3A4DCC94BD4}"/>
              </a:ext>
            </a:extLst>
          </p:cNvPr>
          <p:cNvPicPr>
            <a:picLocks noChangeAspect="1"/>
          </p:cNvPicPr>
          <p:nvPr/>
        </p:nvPicPr>
        <p:blipFill>
          <a:blip r:embed="rId5"/>
          <a:stretch>
            <a:fillRect/>
          </a:stretch>
        </p:blipFill>
        <p:spPr>
          <a:xfrm>
            <a:off x="6466890" y="1622873"/>
            <a:ext cx="5170156" cy="2815301"/>
          </a:xfrm>
          <a:prstGeom prst="rect">
            <a:avLst/>
          </a:prstGeom>
        </p:spPr>
      </p:pic>
      <p:sp>
        <p:nvSpPr>
          <p:cNvPr id="15" name="CuadroTexto 14">
            <a:extLst>
              <a:ext uri="{FF2B5EF4-FFF2-40B4-BE49-F238E27FC236}">
                <a16:creationId xmlns:a16="http://schemas.microsoft.com/office/drawing/2014/main" id="{A44C5B1C-97C4-33B1-6F8C-68C9F4135AAA}"/>
              </a:ext>
            </a:extLst>
          </p:cNvPr>
          <p:cNvSpPr txBox="1"/>
          <p:nvPr/>
        </p:nvSpPr>
        <p:spPr>
          <a:xfrm>
            <a:off x="609441" y="5658140"/>
            <a:ext cx="6528215" cy="738664"/>
          </a:xfrm>
          <a:prstGeom prst="rect">
            <a:avLst/>
          </a:prstGeom>
          <a:noFill/>
          <a:ln w="38100">
            <a:solidFill>
              <a:schemeClr val="accent1"/>
            </a:solidFill>
          </a:ln>
        </p:spPr>
        <p:txBody>
          <a:bodyPr wrap="square">
            <a:spAutoFit/>
          </a:bodyPr>
          <a:lstStyle/>
          <a:p>
            <a:pPr rtl="0">
              <a:buNone/>
            </a:pPr>
            <a:r>
              <a:rPr lang="es-ES" sz="1400" b="1">
                <a:solidFill>
                  <a:schemeClr val="tx2">
                    <a:lumMod val="60000"/>
                    <a:lumOff val="40000"/>
                  </a:schemeClr>
                </a:solidFill>
                <a:latin typeface="Arial" panose="020B0604020202020204" pitchFamily="34" charset="0"/>
                <a:cs typeface="Arial" panose="020B0604020202020204" pitchFamily="34" charset="0"/>
              </a:rPr>
              <a:t>Ratio: 23.86% / 25.61% / 25.62% / 23.85%</a:t>
            </a:r>
          </a:p>
          <a:p>
            <a:pPr>
              <a:buNone/>
            </a:pPr>
            <a:r>
              <a:rPr lang="es-ES" sz="1400" b="1">
                <a:solidFill>
                  <a:schemeClr val="tx2">
                    <a:lumMod val="60000"/>
                    <a:lumOff val="40000"/>
                  </a:schemeClr>
                </a:solidFill>
                <a:latin typeface="Arial" panose="020B0604020202020204" pitchFamily="34" charset="0"/>
                <a:cs typeface="Arial" panose="020B0604020202020204" pitchFamily="34" charset="0"/>
              </a:rPr>
              <a:t>Está muy cerca del objetivo ideal: 25% / 25% / 25% / 25%</a:t>
            </a:r>
          </a:p>
          <a:p>
            <a:pPr>
              <a:buNone/>
            </a:pPr>
            <a:r>
              <a:rPr lang="es-ES" sz="1400" b="1">
                <a:solidFill>
                  <a:schemeClr val="tx2">
                    <a:lumMod val="60000"/>
                    <a:lumOff val="40000"/>
                  </a:schemeClr>
                </a:solidFill>
                <a:latin typeface="Arial" panose="020B0604020202020204" pitchFamily="34" charset="0"/>
                <a:cs typeface="Arial" panose="020B0604020202020204" pitchFamily="34" charset="0"/>
              </a:rPr>
              <a:t>Además, </a:t>
            </a:r>
            <a:r>
              <a:rPr lang="es-ES" sz="1400" b="1" err="1">
                <a:solidFill>
                  <a:schemeClr val="tx2">
                    <a:lumMod val="60000"/>
                    <a:lumOff val="40000"/>
                  </a:schemeClr>
                </a:solidFill>
                <a:latin typeface="Arial" panose="020B0604020202020204" pitchFamily="34" charset="0"/>
                <a:cs typeface="Arial" panose="020B0604020202020204" pitchFamily="34" charset="0"/>
              </a:rPr>
              <a:t>excess</a:t>
            </a:r>
            <a:r>
              <a:rPr lang="es-ES" sz="1400" b="1">
                <a:solidFill>
                  <a:schemeClr val="tx2">
                    <a:lumMod val="60000"/>
                    <a:lumOff val="40000"/>
                  </a:schemeClr>
                </a:solidFill>
                <a:latin typeface="Arial" panose="020B0604020202020204" pitchFamily="34" charset="0"/>
                <a:cs typeface="Arial" panose="020B0604020202020204" pitchFamily="34" charset="0"/>
              </a:rPr>
              <a:t> los &lt; 0.1 dB (0.0965 dB)</a:t>
            </a:r>
          </a:p>
        </p:txBody>
      </p:sp>
      <p:sp>
        <p:nvSpPr>
          <p:cNvPr id="13" name="Rectangle 12">
            <a:extLst>
              <a:ext uri="{FF2B5EF4-FFF2-40B4-BE49-F238E27FC236}">
                <a16:creationId xmlns:a16="http://schemas.microsoft.com/office/drawing/2014/main" id="{7B2DC08C-387D-E6E8-7ACC-1211E26ED7AA}"/>
              </a:ext>
            </a:extLst>
          </p:cNvPr>
          <p:cNvSpPr/>
          <p:nvPr/>
        </p:nvSpPr>
        <p:spPr>
          <a:xfrm>
            <a:off x="6342639" y="4061242"/>
            <a:ext cx="5239919" cy="273251"/>
          </a:xfrm>
          <a:prstGeom prst="rect">
            <a:avLst/>
          </a:prstGeom>
          <a:solidFill>
            <a:srgbClr val="4F81BD">
              <a:alpha val="18039"/>
            </a:srgbClr>
          </a:solidFill>
          <a:ln w="381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angle 13">
            <a:extLst>
              <a:ext uri="{FF2B5EF4-FFF2-40B4-BE49-F238E27FC236}">
                <a16:creationId xmlns:a16="http://schemas.microsoft.com/office/drawing/2014/main" id="{2CB5AC15-D69C-0AE5-0D50-D34057CD9848}"/>
              </a:ext>
            </a:extLst>
          </p:cNvPr>
          <p:cNvSpPr/>
          <p:nvPr/>
        </p:nvSpPr>
        <p:spPr>
          <a:xfrm>
            <a:off x="6466890" y="3409978"/>
            <a:ext cx="2403978" cy="253174"/>
          </a:xfrm>
          <a:prstGeom prst="rect">
            <a:avLst/>
          </a:prstGeom>
          <a:solidFill>
            <a:srgbClr val="4F81BD">
              <a:alpha val="18039"/>
            </a:srgbClr>
          </a:solidFill>
          <a:ln w="381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99864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Extra #1 – Directional coupler gap dependence</a:t>
            </a:r>
            <a:br>
              <a:rPr lang="en-US" sz="2500"/>
            </a:br>
            <a:r>
              <a:rPr lang="en-US" b="0"/>
              <a:t>Wavelength 1.55 µm, width 1.0 µm, </a:t>
            </a:r>
            <a:r>
              <a:rPr lang="en-US"/>
              <a:t>gap 0.2-2.4 µm </a:t>
            </a:r>
            <a:r>
              <a:rPr lang="en-US" b="0"/>
              <a:t>(step 0.2 µm)</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815882"/>
          </a:xfrm>
          <a:prstGeom prst="rect">
            <a:avLst/>
          </a:prstGeom>
          <a:solidFill>
            <a:schemeClr val="bg1">
              <a:lumMod val="95000"/>
            </a:schemeClr>
          </a:solidFill>
          <a:ln w="28575">
            <a:solidFill>
              <a:srgbClr val="E0700D"/>
            </a:solidFill>
          </a:ln>
        </p:spPr>
        <p:txBody>
          <a:bodyPr wrap="square" rtlCol="0">
            <a:spAutoFit/>
          </a:bodyPr>
          <a:lstStyle/>
          <a:p>
            <a:pPr algn="just"/>
            <a:r>
              <a:rPr lang="en-US" sz="1400">
                <a:latin typeface="Arial" panose="020B0604020202020204" pitchFamily="34" charset="0"/>
                <a:cs typeface="Arial" panose="020B0604020202020204" pitchFamily="34" charset="0"/>
              </a:rPr>
              <a:t>Para la </a:t>
            </a:r>
            <a:r>
              <a:rPr lang="en-US" sz="1400" err="1">
                <a:latin typeface="Arial" panose="020B0604020202020204" pitchFamily="34" charset="0"/>
                <a:cs typeface="Arial" panose="020B0604020202020204" pitchFamily="34" charset="0"/>
              </a:rPr>
              <a:t>guía</a:t>
            </a:r>
            <a:r>
              <a:rPr lang="en-US" sz="1400">
                <a:latin typeface="Arial" panose="020B0604020202020204" pitchFamily="34" charset="0"/>
                <a:cs typeface="Arial" panose="020B0604020202020204" pitchFamily="34" charset="0"/>
              </a:rPr>
              <a:t> deep, </a:t>
            </a:r>
            <a:r>
              <a:rPr lang="en-US" sz="1400" err="1">
                <a:latin typeface="Arial" panose="020B0604020202020204" pitchFamily="34" charset="0"/>
                <a:cs typeface="Arial" panose="020B0604020202020204" pitchFamily="34" charset="0"/>
              </a:rPr>
              <a:t>claramente</a:t>
            </a:r>
            <a:r>
              <a:rPr lang="en-US" sz="1400">
                <a:latin typeface="Arial" panose="020B0604020202020204" pitchFamily="34" charset="0"/>
                <a:cs typeface="Arial" panose="020B0604020202020204" pitchFamily="34" charset="0"/>
              </a:rPr>
              <a:t> se </a:t>
            </a:r>
            <a:r>
              <a:rPr lang="en-US" sz="1400" err="1">
                <a:latin typeface="Arial" panose="020B0604020202020204" pitchFamily="34" charset="0"/>
                <a:cs typeface="Arial" panose="020B0604020202020204" pitchFamily="34" charset="0"/>
              </a:rPr>
              <a:t>observa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L_pi</a:t>
            </a:r>
            <a:r>
              <a:rPr lang="en-US" sz="1400">
                <a:latin typeface="Arial" panose="020B0604020202020204" pitchFamily="34" charset="0"/>
                <a:cs typeface="Arial" panose="020B0604020202020204" pitchFamily="34" charset="0"/>
              </a:rPr>
              <a:t> y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gap son </a:t>
            </a:r>
            <a:r>
              <a:rPr lang="en-US" sz="1400" err="1">
                <a:latin typeface="Arial" panose="020B0604020202020204" pitchFamily="34" charset="0"/>
                <a:cs typeface="Arial" panose="020B0604020202020204" pitchFamily="34" charset="0"/>
              </a:rPr>
              <a:t>directamente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proporcionales</a:t>
            </a:r>
            <a:r>
              <a:rPr lang="en-US" sz="1400">
                <a:latin typeface="Arial" panose="020B0604020202020204" pitchFamily="34" charset="0"/>
                <a:cs typeface="Arial" panose="020B0604020202020204" pitchFamily="34" charset="0"/>
              </a:rPr>
              <a:t>. Esto se </a:t>
            </a:r>
            <a:r>
              <a:rPr lang="en-US" sz="1400" err="1">
                <a:latin typeface="Arial" panose="020B0604020202020204" pitchFamily="34" charset="0"/>
                <a:cs typeface="Arial" panose="020B0604020202020204" pitchFamily="34" charset="0"/>
              </a:rPr>
              <a:t>debe</a:t>
            </a:r>
            <a:r>
              <a:rPr lang="en-US" sz="1400">
                <a:latin typeface="Arial" panose="020B0604020202020204" pitchFamily="34" charset="0"/>
                <a:cs typeface="Arial" panose="020B0604020202020204" pitchFamily="34" charset="0"/>
              </a:rPr>
              <a:t> a la </a:t>
            </a:r>
            <a:r>
              <a:rPr lang="en-US" sz="1400" err="1">
                <a:latin typeface="Arial" panose="020B0604020202020204" pitchFamily="34" charset="0"/>
                <a:cs typeface="Arial" panose="020B0604020202020204" pitchFamily="34" charset="0"/>
              </a:rPr>
              <a:t>propia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naturaleza</a:t>
            </a:r>
            <a:r>
              <a:rPr lang="en-US" sz="1400">
                <a:latin typeface="Arial" panose="020B0604020202020204" pitchFamily="34" charset="0"/>
                <a:cs typeface="Arial" panose="020B0604020202020204" pitchFamily="34" charset="0"/>
              </a:rPr>
              <a:t> del </a:t>
            </a:r>
            <a:r>
              <a:rPr lang="en-US" sz="1400" err="1">
                <a:latin typeface="Arial" panose="020B0604020202020204" pitchFamily="34" charset="0"/>
                <a:cs typeface="Arial" panose="020B0604020202020204" pitchFamily="34" charset="0"/>
              </a:rPr>
              <a:t>concepto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L_pi</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se </a:t>
            </a:r>
            <a:r>
              <a:rPr lang="en-US" sz="1400" err="1">
                <a:latin typeface="Arial" panose="020B0604020202020204" pitchFamily="34" charset="0"/>
                <a:cs typeface="Arial" panose="020B0604020202020204" pitchFamily="34" charset="0"/>
              </a:rPr>
              <a:t>trata</a:t>
            </a:r>
            <a:r>
              <a:rPr lang="en-US" sz="1400">
                <a:latin typeface="Arial" panose="020B0604020202020204" pitchFamily="34" charset="0"/>
                <a:cs typeface="Arial" panose="020B0604020202020204" pitchFamily="34" charset="0"/>
              </a:rPr>
              <a:t> de la </a:t>
            </a:r>
            <a:r>
              <a:rPr lang="en-US" sz="1400" err="1">
                <a:latin typeface="Arial" panose="020B0604020202020204" pitchFamily="34" charset="0"/>
                <a:cs typeface="Arial" panose="020B0604020202020204" pitchFamily="34" charset="0"/>
              </a:rPr>
              <a:t>longitud</a:t>
            </a:r>
            <a:r>
              <a:rPr lang="en-US" sz="1400">
                <a:latin typeface="Arial" panose="020B0604020202020204" pitchFamily="34" charset="0"/>
                <a:cs typeface="Arial" panose="020B0604020202020204" pitchFamily="34" charset="0"/>
              </a:rPr>
              <a:t> a la </a:t>
            </a:r>
            <a:r>
              <a:rPr lang="en-US" sz="1400" err="1">
                <a:latin typeface="Arial" panose="020B0604020202020204" pitchFamily="34" charset="0"/>
                <a:cs typeface="Arial" panose="020B0604020202020204" pitchFamily="34" charset="0"/>
              </a:rPr>
              <a:t>cual</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modos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empiezan</a:t>
            </a:r>
            <a:r>
              <a:rPr lang="en-US" sz="1400">
                <a:latin typeface="Arial" panose="020B0604020202020204" pitchFamily="34" charset="0"/>
                <a:cs typeface="Arial" panose="020B0604020202020204" pitchFamily="34" charset="0"/>
              </a:rPr>
              <a:t> a </a:t>
            </a:r>
            <a:r>
              <a:rPr lang="en-US" sz="1400" err="1">
                <a:latin typeface="Arial" panose="020B0604020202020204" pitchFamily="34" charset="0"/>
                <a:cs typeface="Arial" panose="020B0604020202020204" pitchFamily="34" charset="0"/>
              </a:rPr>
              <a:t>acoplarse</a:t>
            </a:r>
            <a:r>
              <a:rPr lang="en-US" sz="1400">
                <a:latin typeface="Arial" panose="020B0604020202020204" pitchFamily="34" charset="0"/>
                <a:cs typeface="Arial" panose="020B0604020202020204" pitchFamily="34" charset="0"/>
              </a:rPr>
              <a:t>. Al </a:t>
            </a:r>
            <a:r>
              <a:rPr lang="en-US" sz="1400" err="1">
                <a:latin typeface="Arial" panose="020B0604020202020204" pitchFamily="34" charset="0"/>
                <a:cs typeface="Arial" panose="020B0604020202020204" pitchFamily="34" charset="0"/>
              </a:rPr>
              <a:t>separar</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las dos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disminuye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solapamiento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evanescente</a:t>
            </a:r>
            <a:r>
              <a:rPr lang="en-US" sz="1400">
                <a:latin typeface="Arial" panose="020B0604020202020204" pitchFamily="34" charset="0"/>
                <a:cs typeface="Arial" panose="020B0604020202020204" pitchFamily="34" charset="0"/>
              </a:rPr>
              <a:t> entre </a:t>
            </a:r>
            <a:r>
              <a:rPr lang="en-US" sz="1400" err="1">
                <a:latin typeface="Arial" panose="020B0604020202020204" pitchFamily="34" charset="0"/>
                <a:cs typeface="Arial" panose="020B0604020202020204" pitchFamily="34" charset="0"/>
              </a:rPr>
              <a:t>los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modos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por</a:t>
            </a:r>
            <a:r>
              <a:rPr lang="en-US" sz="1400">
                <a:latin typeface="Arial" panose="020B0604020202020204" pitchFamily="34" charset="0"/>
                <a:cs typeface="Arial" panose="020B0604020202020204" pitchFamily="34" charset="0"/>
              </a:rPr>
              <a:t> lo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diferencia</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índice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efetivo</a:t>
            </a:r>
            <a:r>
              <a:rPr lang="en-US" sz="1400">
                <a:latin typeface="Arial" panose="020B0604020202020204" pitchFamily="34" charset="0"/>
                <a:cs typeface="Arial" panose="020B0604020202020204" pitchFamily="34" charset="0"/>
              </a:rPr>
              <a:t> se reduce. En </a:t>
            </a:r>
            <a:r>
              <a:rPr lang="en-US" sz="1400" err="1">
                <a:latin typeface="Arial" panose="020B0604020202020204" pitchFamily="34" charset="0"/>
                <a:cs typeface="Arial" panose="020B0604020202020204" pitchFamily="34" charset="0"/>
              </a:rPr>
              <a:t>otras</a:t>
            </a:r>
            <a:r>
              <a:rPr lang="en-US" sz="1400">
                <a:latin typeface="Arial" panose="020B0604020202020204" pitchFamily="34" charset="0"/>
                <a:cs typeface="Arial" panose="020B0604020202020204" pitchFamily="34" charset="0"/>
              </a:rPr>
              <a:t> palabras, se </a:t>
            </a:r>
            <a:r>
              <a:rPr lang="en-US" sz="1400" err="1">
                <a:latin typeface="Arial" panose="020B0604020202020204" pitchFamily="34" charset="0"/>
                <a:cs typeface="Arial" panose="020B0604020202020204" pitchFamily="34" charset="0"/>
              </a:rPr>
              <a:t>necesita</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una</a:t>
            </a:r>
            <a:r>
              <a:rPr lang="en-US" sz="1400">
                <a:latin typeface="Arial" panose="020B0604020202020204" pitchFamily="34" charset="0"/>
                <a:cs typeface="Arial" panose="020B0604020202020204" pitchFamily="34" charset="0"/>
              </a:rPr>
              <a:t> longitude mayor para </a:t>
            </a:r>
            <a:r>
              <a:rPr lang="en-US" sz="1400" err="1">
                <a:latin typeface="Arial" panose="020B0604020202020204" pitchFamily="34" charset="0"/>
                <a:cs typeface="Arial" panose="020B0604020202020204" pitchFamily="34" charset="0"/>
              </a:rPr>
              <a:t>transferir</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potencia</a:t>
            </a:r>
            <a:r>
              <a:rPr lang="en-US" sz="1400">
                <a:latin typeface="Arial" panose="020B0604020202020204" pitchFamily="34" charset="0"/>
                <a:cs typeface="Arial" panose="020B0604020202020204" pitchFamily="34" charset="0"/>
              </a:rPr>
              <a:t> entre </a:t>
            </a:r>
            <a:r>
              <a:rPr lang="en-US" sz="1400" err="1">
                <a:latin typeface="Arial" panose="020B0604020202020204" pitchFamily="34" charset="0"/>
                <a:cs typeface="Arial" panose="020B0604020202020204" pitchFamily="34" charset="0"/>
              </a:rPr>
              <a:t>guías</a:t>
            </a:r>
            <a:r>
              <a:rPr lang="en-US" sz="1400">
                <a:latin typeface="Arial" panose="020B0604020202020204" pitchFamily="34" charset="0"/>
                <a:cs typeface="Arial" panose="020B0604020202020204" pitchFamily="34" charset="0"/>
              </a:rPr>
              <a:t>. El </a:t>
            </a:r>
            <a:r>
              <a:rPr lang="en-US" sz="1400" err="1">
                <a:latin typeface="Arial" panose="020B0604020202020204" pitchFamily="34" charset="0"/>
                <a:cs typeface="Arial" panose="020B0604020202020204" pitchFamily="34" charset="0"/>
              </a:rPr>
              <a:t>hecho</a:t>
            </a:r>
            <a:r>
              <a:rPr lang="en-US" sz="1400">
                <a:latin typeface="Arial" panose="020B0604020202020204" pitchFamily="34" charset="0"/>
                <a:cs typeface="Arial" panose="020B0604020202020204" pitchFamily="34" charset="0"/>
              </a:rPr>
              <a:t> de </a:t>
            </a:r>
            <a:r>
              <a:rPr lang="en-US" sz="1400" err="1">
                <a:latin typeface="Arial" panose="020B0604020202020204" pitchFamily="34" charset="0"/>
                <a:cs typeface="Arial" panose="020B0604020202020204" pitchFamily="34" charset="0"/>
              </a:rPr>
              <a:t>que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el</a:t>
            </a:r>
            <a:r>
              <a:rPr lang="en-US" sz="1400">
                <a:latin typeface="Arial" panose="020B0604020202020204" pitchFamily="34" charset="0"/>
                <a:cs typeface="Arial" panose="020B0604020202020204" pitchFamily="34" charset="0"/>
              </a:rPr>
              <a:t> modo TE </a:t>
            </a:r>
            <a:r>
              <a:rPr lang="en-US" sz="1400" err="1">
                <a:latin typeface="Arial" panose="020B0604020202020204" pitchFamily="34" charset="0"/>
                <a:cs typeface="Arial" panose="020B0604020202020204" pitchFamily="34" charset="0"/>
              </a:rPr>
              <a:t>aumente</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bruscamente</a:t>
            </a:r>
            <a:r>
              <a:rPr lang="en-US" sz="1400">
                <a:latin typeface="Arial" panose="020B0604020202020204" pitchFamily="34" charset="0"/>
                <a:cs typeface="Arial" panose="020B0604020202020204" pitchFamily="34" charset="0"/>
              </a:rPr>
              <a:t> se </a:t>
            </a:r>
            <a:r>
              <a:rPr lang="en-US" sz="1400" err="1">
                <a:latin typeface="Arial" panose="020B0604020202020204" pitchFamily="34" charset="0"/>
                <a:cs typeface="Arial" panose="020B0604020202020204" pitchFamily="34" charset="0"/>
              </a:rPr>
              <a:t>debe</a:t>
            </a:r>
            <a:r>
              <a:rPr lang="en-US" sz="1400">
                <a:latin typeface="Arial" panose="020B0604020202020204" pitchFamily="34" charset="0"/>
                <a:cs typeface="Arial" panose="020B0604020202020204" pitchFamily="34" charset="0"/>
              </a:rPr>
              <a:t> a </a:t>
            </a:r>
            <a:r>
              <a:rPr lang="en-US" sz="1400" err="1">
                <a:latin typeface="Arial" panose="020B0604020202020204" pitchFamily="34" charset="0"/>
                <a:cs typeface="Arial" panose="020B0604020202020204" pitchFamily="34" charset="0"/>
              </a:rPr>
              <a:t>su</a:t>
            </a:r>
            <a:r>
              <a:rPr lang="en-US" sz="1400">
                <a:latin typeface="Arial" panose="020B0604020202020204" pitchFamily="34" charset="0"/>
                <a:cs typeface="Arial" panose="020B0604020202020204" pitchFamily="34" charset="0"/>
              </a:rPr>
              <a:t> mayor </a:t>
            </a:r>
            <a:r>
              <a:rPr lang="en-US" sz="1400" err="1">
                <a:latin typeface="Arial" panose="020B0604020202020204" pitchFamily="34" charset="0"/>
                <a:cs typeface="Arial" panose="020B0604020202020204" pitchFamily="34" charset="0"/>
              </a:rPr>
              <a:t>confinamiento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especialmente</a:t>
            </a:r>
            <a:r>
              <a:rPr lang="en-US" sz="1400">
                <a:latin typeface="Arial" panose="020B0604020202020204" pitchFamily="34" charset="0"/>
                <a:cs typeface="Arial" panose="020B0604020202020204" pitchFamily="34" charset="0"/>
              </a:rPr>
              <a:t> para gaps </a:t>
            </a:r>
            <a:r>
              <a:rPr lang="en-US" sz="1400" err="1">
                <a:latin typeface="Arial" panose="020B0604020202020204" pitchFamily="34" charset="0"/>
                <a:cs typeface="Arial" panose="020B0604020202020204" pitchFamily="34" charset="0"/>
              </a:rPr>
              <a:t>grandes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habrá</a:t>
            </a:r>
            <a:r>
              <a:rPr lang="en-US" sz="1400">
                <a:latin typeface="Arial" panose="020B0604020202020204" pitchFamily="34" charset="0"/>
                <a:cs typeface="Arial" panose="020B0604020202020204" pitchFamily="34" charset="0"/>
              </a:rPr>
              <a:t> un </a:t>
            </a:r>
            <a:r>
              <a:rPr lang="en-US" sz="1400" err="1">
                <a:latin typeface="Arial" panose="020B0604020202020204" pitchFamily="34" charset="0"/>
                <a:cs typeface="Arial" panose="020B0604020202020204" pitchFamily="34" charset="0"/>
              </a:rPr>
              <a:t>acoplo</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débil</a:t>
            </a:r>
            <a:r>
              <a:rPr lang="en-US" sz="1400">
                <a:latin typeface="Arial" panose="020B0604020202020204" pitchFamily="34" charset="0"/>
                <a:cs typeface="Arial" panose="020B0604020202020204" pitchFamily="34" charset="0"/>
              </a:rPr>
              <a:t>.</a:t>
            </a:r>
          </a:p>
          <a:p>
            <a:pPr algn="just"/>
            <a:endParaRPr lang="en-US" sz="1400">
              <a:latin typeface="Arial" panose="020B0604020202020204" pitchFamily="34" charset="0"/>
              <a:cs typeface="Arial" panose="020B0604020202020204" pitchFamily="34" charset="0"/>
            </a:endParaRPr>
          </a:p>
          <a:p>
            <a:pPr algn="just"/>
            <a:r>
              <a:rPr lang="en-US" sz="1400" err="1">
                <a:latin typeface="Arial" panose="020B0604020202020204" pitchFamily="34" charset="0"/>
                <a:cs typeface="Arial" panose="020B0604020202020204" pitchFamily="34" charset="0"/>
              </a:rPr>
              <a:t>Respecto</a:t>
            </a:r>
            <a:r>
              <a:rPr lang="en-US" sz="1400">
                <a:latin typeface="Arial" panose="020B0604020202020204" pitchFamily="34" charset="0"/>
                <a:cs typeface="Arial" panose="020B0604020202020204" pitchFamily="34" charset="0"/>
              </a:rPr>
              <a:t> a la </a:t>
            </a:r>
            <a:r>
              <a:rPr lang="en-US" sz="1400" err="1">
                <a:latin typeface="Arial" panose="020B0604020202020204" pitchFamily="34" charset="0"/>
                <a:cs typeface="Arial" panose="020B0604020202020204" pitchFamily="34" charset="0"/>
              </a:rPr>
              <a:t>guía</a:t>
            </a:r>
            <a:r>
              <a:rPr lang="en-US" sz="1400">
                <a:latin typeface="Arial" panose="020B0604020202020204" pitchFamily="34" charset="0"/>
                <a:cs typeface="Arial" panose="020B0604020202020204" pitchFamily="34" charset="0"/>
              </a:rPr>
              <a:t> shallow, se </a:t>
            </a:r>
            <a:r>
              <a:rPr lang="en-US" sz="1400" err="1">
                <a:latin typeface="Arial" panose="020B0604020202020204" pitchFamily="34" charset="0"/>
                <a:cs typeface="Arial" panose="020B0604020202020204" pitchFamily="34" charset="0"/>
              </a:rPr>
              <a:t>obtienen</a:t>
            </a:r>
            <a:r>
              <a:rPr lang="en-US" sz="1400">
                <a:latin typeface="Arial" panose="020B0604020202020204" pitchFamily="34" charset="0"/>
                <a:cs typeface="Arial" panose="020B0604020202020204" pitchFamily="34" charset="0"/>
              </a:rPr>
              <a:t> las </a:t>
            </a:r>
            <a:r>
              <a:rPr lang="en-US" sz="1400" err="1">
                <a:latin typeface="Arial" panose="020B0604020202020204" pitchFamily="34" charset="0"/>
                <a:cs typeface="Arial" panose="020B0604020202020204" pitchFamily="34" charset="0"/>
              </a:rPr>
              <a:t>mismas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conclusiones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aunque</a:t>
            </a:r>
            <a:r>
              <a:rPr lang="en-US" sz="1400">
                <a:latin typeface="Arial" panose="020B0604020202020204" pitchFamily="34" charset="0"/>
                <a:cs typeface="Arial" panose="020B0604020202020204" pitchFamily="34" charset="0"/>
              </a:rPr>
              <a:t> la </a:t>
            </a:r>
            <a:r>
              <a:rPr lang="en-US" sz="1400" err="1">
                <a:latin typeface="Arial" panose="020B0604020202020204" pitchFamily="34" charset="0"/>
                <a:cs typeface="Arial" panose="020B0604020202020204" pitchFamily="34" charset="0"/>
              </a:rPr>
              <a:t>evolución</a:t>
            </a:r>
            <a:r>
              <a:rPr lang="en-US" sz="1400">
                <a:latin typeface="Arial" panose="020B0604020202020204" pitchFamily="34" charset="0"/>
                <a:cs typeface="Arial" panose="020B0604020202020204" pitchFamily="34" charset="0"/>
              </a:rPr>
              <a:t> de TE y TM es </a:t>
            </a:r>
            <a:r>
              <a:rPr lang="en-US" sz="1400" err="1">
                <a:latin typeface="Arial" panose="020B0604020202020204" pitchFamily="34" charset="0"/>
                <a:cs typeface="Arial" panose="020B0604020202020204" pitchFamily="34" charset="0"/>
              </a:rPr>
              <a:t>más</a:t>
            </a:r>
            <a:r>
              <a:rPr lang="en-US" sz="1400">
                <a:latin typeface="Arial" panose="020B0604020202020204" pitchFamily="34" charset="0"/>
                <a:cs typeface="Arial" panose="020B0604020202020204" pitchFamily="34" charset="0"/>
              </a:rPr>
              <a:t> </a:t>
            </a:r>
            <a:r>
              <a:rPr lang="en-US" sz="1400" err="1">
                <a:latin typeface="Arial" panose="020B0604020202020204" pitchFamily="34" charset="0"/>
                <a:cs typeface="Arial" panose="020B0604020202020204" pitchFamily="34" charset="0"/>
              </a:rPr>
              <a:t>parecida</a:t>
            </a:r>
            <a:r>
              <a:rPr lang="en-US" sz="1400">
                <a:latin typeface="Arial" panose="020B0604020202020204" pitchFamily="34" charset="0"/>
                <a:cs typeface="Arial" panose="020B0604020202020204" pitchFamily="34" charset="0"/>
              </a:rPr>
              <a:t> para gaps </a:t>
            </a:r>
            <a:r>
              <a:rPr lang="en-US" sz="1400" err="1">
                <a:latin typeface="Arial" panose="020B0604020202020204" pitchFamily="34" charset="0"/>
                <a:cs typeface="Arial" panose="020B0604020202020204" pitchFamily="34" charset="0"/>
              </a:rPr>
              <a:t>pequeños</a:t>
            </a:r>
            <a:r>
              <a:rPr lang="en-US" sz="1400">
                <a:latin typeface="Arial" panose="020B0604020202020204" pitchFamily="34" charset="0"/>
                <a:cs typeface="Arial" panose="020B0604020202020204" pitchFamily="34" charset="0"/>
              </a:rPr>
              <a:t> e </a:t>
            </a:r>
            <a:r>
              <a:rPr lang="en-US" sz="1400" err="1">
                <a:latin typeface="Arial" panose="020B0604020202020204" pitchFamily="34" charset="0"/>
                <a:cs typeface="Arial" panose="020B0604020202020204" pitchFamily="34" charset="0"/>
              </a:rPr>
              <a:t>intermedios</a:t>
            </a:r>
            <a:r>
              <a:rPr lang="en-US" sz="1400">
                <a:latin typeface="Arial" panose="020B0604020202020204" pitchFamily="34" charset="0"/>
                <a:cs typeface="Arial" panose="020B0604020202020204" pitchFamily="34" charset="0"/>
              </a:rPr>
              <a:t>.</a:t>
            </a: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n-US">
                    <a:noFill/>
                  </a:rPr>
                  <a:t> </a:t>
                </a:r>
              </a:p>
            </p:txBody>
          </p:sp>
        </mc:Fallback>
      </mc:AlternateContent>
      <p:pic>
        <p:nvPicPr>
          <p:cNvPr id="10" name="Imagen 9">
            <a:extLst>
              <a:ext uri="{FF2B5EF4-FFF2-40B4-BE49-F238E27FC236}">
                <a16:creationId xmlns:a16="http://schemas.microsoft.com/office/drawing/2014/main" id="{2C7FBF9F-0019-EE8A-D452-6FB25AA41147}"/>
              </a:ext>
            </a:extLst>
          </p:cNvPr>
          <p:cNvPicPr>
            <a:picLocks noChangeAspect="1"/>
          </p:cNvPicPr>
          <p:nvPr/>
        </p:nvPicPr>
        <p:blipFill>
          <a:blip r:embed="rId6"/>
          <a:stretch>
            <a:fillRect/>
          </a:stretch>
        </p:blipFill>
        <p:spPr>
          <a:xfrm>
            <a:off x="731812" y="1498925"/>
            <a:ext cx="5318369" cy="3106079"/>
          </a:xfrm>
          <a:prstGeom prst="rect">
            <a:avLst/>
          </a:prstGeom>
        </p:spPr>
      </p:pic>
      <p:pic>
        <p:nvPicPr>
          <p:cNvPr id="12" name="Imagen 11">
            <a:extLst>
              <a:ext uri="{FF2B5EF4-FFF2-40B4-BE49-F238E27FC236}">
                <a16:creationId xmlns:a16="http://schemas.microsoft.com/office/drawing/2014/main" id="{B2C11ED9-47C0-E305-FAC3-01B3277CA0C7}"/>
              </a:ext>
            </a:extLst>
          </p:cNvPr>
          <p:cNvPicPr>
            <a:picLocks noChangeAspect="1"/>
          </p:cNvPicPr>
          <p:nvPr/>
        </p:nvPicPr>
        <p:blipFill>
          <a:blip r:embed="rId7"/>
          <a:stretch>
            <a:fillRect/>
          </a:stretch>
        </p:blipFill>
        <p:spPr>
          <a:xfrm>
            <a:off x="6397772" y="1605431"/>
            <a:ext cx="5194618" cy="3033806"/>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198565" y="154608"/>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a:t>Extra #2 – Directional wavelength dependence</a:t>
            </a:r>
            <a:br>
              <a:rPr lang="en-US" sz="2500"/>
            </a:br>
            <a:r>
              <a:rPr lang="en-US" b="0"/>
              <a:t>Wavelengths </a:t>
            </a:r>
            <a:r>
              <a:rPr lang="en-US"/>
              <a:t>from 1.5 to 1.7 µm</a:t>
            </a:r>
            <a:r>
              <a:rPr lang="en-US" b="0"/>
              <a:t>, gap = 0.6 µm, width 1.0 µm</a:t>
            </a:r>
            <a:br>
              <a:rPr lang="en-US" b="0"/>
            </a:b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Como bien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la formula de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parámetro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depende</a:t>
            </a:r>
            <a:r>
              <a:rPr lang="en-US" sz="1200" dirty="0">
                <a:latin typeface="Arial" panose="020B0604020202020204" pitchFamily="34" charset="0"/>
                <a:cs typeface="Arial" panose="020B0604020202020204" pitchFamily="34" charset="0"/>
              </a:rPr>
              <a:t> tanto de la longitude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estudiado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valor de la longitude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valor de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n-US">
                    <a:noFill/>
                  </a:rPr>
                  <a:t> </a:t>
                </a:r>
              </a:p>
            </p:txBody>
          </p:sp>
        </mc:Fallback>
      </mc:AlternateContent>
      <p:pic>
        <p:nvPicPr>
          <p:cNvPr id="10" name="Imagen 9">
            <a:extLst>
              <a:ext uri="{FF2B5EF4-FFF2-40B4-BE49-F238E27FC236}">
                <a16:creationId xmlns:a16="http://schemas.microsoft.com/office/drawing/2014/main" id="{B10E1E8D-7814-22F6-1386-533F4AEF6717}"/>
              </a:ext>
            </a:extLst>
          </p:cNvPr>
          <p:cNvPicPr>
            <a:picLocks noChangeAspect="1"/>
          </p:cNvPicPr>
          <p:nvPr/>
        </p:nvPicPr>
        <p:blipFill>
          <a:blip r:embed="rId6"/>
          <a:stretch>
            <a:fillRect/>
          </a:stretch>
        </p:blipFill>
        <p:spPr>
          <a:xfrm>
            <a:off x="609440" y="1498660"/>
            <a:ext cx="5486560" cy="3204308"/>
          </a:xfrm>
          <a:prstGeom prst="rect">
            <a:avLst/>
          </a:prstGeom>
        </p:spPr>
      </p:pic>
      <p:pic>
        <p:nvPicPr>
          <p:cNvPr id="12" name="Imagen 11">
            <a:extLst>
              <a:ext uri="{FF2B5EF4-FFF2-40B4-BE49-F238E27FC236}">
                <a16:creationId xmlns:a16="http://schemas.microsoft.com/office/drawing/2014/main" id="{DB280B5B-B053-3365-B034-0372D0BA575D}"/>
              </a:ext>
            </a:extLst>
          </p:cNvPr>
          <p:cNvPicPr>
            <a:picLocks noChangeAspect="1"/>
          </p:cNvPicPr>
          <p:nvPr/>
        </p:nvPicPr>
        <p:blipFill>
          <a:blip r:embed="rId7"/>
          <a:stretch>
            <a:fillRect/>
          </a:stretch>
        </p:blipFill>
        <p:spPr>
          <a:xfrm>
            <a:off x="6562258" y="1599498"/>
            <a:ext cx="5188849" cy="3026829"/>
          </a:xfrm>
          <a:prstGeom prst="rect">
            <a:avLst/>
          </a:prstGeom>
        </p:spPr>
      </p:pic>
      <p:pic>
        <p:nvPicPr>
          <p:cNvPr id="14" name="Imagen 13">
            <a:extLst>
              <a:ext uri="{FF2B5EF4-FFF2-40B4-BE49-F238E27FC236}">
                <a16:creationId xmlns:a16="http://schemas.microsoft.com/office/drawing/2014/main" id="{471802B4-A4DC-EAF6-0F25-9D2802C63EFC}"/>
              </a:ext>
            </a:extLst>
          </p:cNvPr>
          <p:cNvPicPr>
            <a:picLocks noChangeAspect="1"/>
          </p:cNvPicPr>
          <p:nvPr/>
        </p:nvPicPr>
        <p:blipFill>
          <a:blip r:embed="rId8"/>
          <a:stretch>
            <a:fillRect/>
          </a:stretch>
        </p:blipFill>
        <p:spPr>
          <a:xfrm>
            <a:off x="9581400" y="32782"/>
            <a:ext cx="2804159" cy="1637709"/>
          </a:xfrm>
          <a:prstGeom prst="rect">
            <a:avLst/>
          </a:prstGeom>
          <a:ln w="28575">
            <a:solidFill>
              <a:schemeClr val="accent3">
                <a:lumMod val="75000"/>
              </a:schemeClr>
            </a:solidFill>
          </a:ln>
        </p:spPr>
      </p:pic>
      <p:sp>
        <p:nvSpPr>
          <p:cNvPr id="15" name="Rectángulo 14">
            <a:extLst>
              <a:ext uri="{FF2B5EF4-FFF2-40B4-BE49-F238E27FC236}">
                <a16:creationId xmlns:a16="http://schemas.microsoft.com/office/drawing/2014/main" id="{F23DF195-C2AF-0218-B839-4125174AB0E2}"/>
              </a:ext>
            </a:extLst>
          </p:cNvPr>
          <p:cNvSpPr/>
          <p:nvPr/>
        </p:nvSpPr>
        <p:spPr>
          <a:xfrm>
            <a:off x="6967959" y="3715473"/>
            <a:ext cx="4282633" cy="742403"/>
          </a:xfrm>
          <a:prstGeom prst="rect">
            <a:avLst/>
          </a:prstGeom>
          <a:noFill/>
          <a:ln w="57150">
            <a:solidFill>
              <a:schemeClr val="accent3">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cxnSp>
        <p:nvCxnSpPr>
          <p:cNvPr id="18" name="Conector: angular 17">
            <a:extLst>
              <a:ext uri="{FF2B5EF4-FFF2-40B4-BE49-F238E27FC236}">
                <a16:creationId xmlns:a16="http://schemas.microsoft.com/office/drawing/2014/main" id="{AFE99347-7697-D0E0-B379-EBE6B8CD22D8}"/>
              </a:ext>
            </a:extLst>
          </p:cNvPr>
          <p:cNvCxnSpPr>
            <a:cxnSpLocks/>
            <a:stCxn id="15" idx="3"/>
          </p:cNvCxnSpPr>
          <p:nvPr/>
        </p:nvCxnSpPr>
        <p:spPr>
          <a:xfrm flipV="1">
            <a:off x="11250592" y="1692374"/>
            <a:ext cx="655042" cy="2394301"/>
          </a:xfrm>
          <a:prstGeom prst="bentConnector2">
            <a:avLst/>
          </a:prstGeom>
          <a:ln w="5715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1BFC29E7-4E49-4BCA-DC1F-694A45FD98D1}"/>
              </a:ext>
            </a:extLst>
          </p:cNvPr>
          <p:cNvPicPr>
            <a:picLocks noChangeAspect="1"/>
          </p:cNvPicPr>
          <p:nvPr/>
        </p:nvPicPr>
        <p:blipFill>
          <a:blip r:embed="rId9"/>
          <a:stretch>
            <a:fillRect/>
          </a:stretch>
        </p:blipFill>
        <p:spPr>
          <a:xfrm>
            <a:off x="6724966" y="385436"/>
            <a:ext cx="2298302" cy="522502"/>
          </a:xfrm>
          <a:prstGeom prst="rect">
            <a:avLst/>
          </a:prstGeom>
          <a:ln w="28575">
            <a:solidFill>
              <a:srgbClr val="FF33CC"/>
            </a:solidFill>
          </a:ln>
        </p:spPr>
      </p:pic>
    </p:spTree>
    <p:extLst>
      <p:ext uri="{BB962C8B-B14F-4D97-AF65-F5344CB8AC3E}">
        <p14:creationId xmlns:p14="http://schemas.microsoft.com/office/powerpoint/2010/main" val="813558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#3 – MMI coupler wavelength dependence</a:t>
            </a:r>
            <a:br>
              <a:rPr lang="en-US" sz="2500" spc="-5">
                <a:latin typeface="+mj-lt"/>
                <a:cs typeface="Lucida Sans"/>
              </a:rPr>
            </a:br>
            <a:r>
              <a:rPr lang="en-US" b="0"/>
              <a:t>Wavelengths from 1.5 to 1.7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u="sng">
                <a:latin typeface="Arial" panose="020B0604020202020204" pitchFamily="34" charset="0"/>
                <a:cs typeface="Arial" panose="020B0604020202020204" pitchFamily="34" charset="0"/>
              </a:rPr>
              <a:t>Comment results (Important. Compare with Directional Coupler)</a:t>
            </a:r>
          </a:p>
          <a:p>
            <a:pPr algn="just"/>
            <a:r>
              <a:rPr lang="en-US" sz="1200">
                <a:latin typeface="Arial" panose="020B0604020202020204" pitchFamily="34" charset="0"/>
                <a:cs typeface="Arial" panose="020B0604020202020204" pitchFamily="34" charset="0"/>
              </a:rPr>
              <a:t>Para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cálculos</a:t>
            </a:r>
            <a:r>
              <a:rPr lang="en-US" sz="1200">
                <a:latin typeface="Arial" panose="020B0604020202020204" pitchFamily="34" charset="0"/>
                <a:cs typeface="Arial" panose="020B0604020202020204" pitchFamily="34" charset="0"/>
              </a:rPr>
              <a:t> del modo TM, se ha </a:t>
            </a:r>
            <a:r>
              <a:rPr lang="en-US" sz="1200" err="1">
                <a:latin typeface="Arial" panose="020B0604020202020204" pitchFamily="34" charset="0"/>
                <a:cs typeface="Arial" panose="020B0604020202020204" pitchFamily="34" charset="0"/>
              </a:rPr>
              <a:t>tenido</a:t>
            </a:r>
            <a:r>
              <a:rPr lang="en-US" sz="1200">
                <a:latin typeface="Arial" panose="020B0604020202020204" pitchFamily="34" charset="0"/>
                <a:cs typeface="Arial" panose="020B0604020202020204" pitchFamily="34" charset="0"/>
              </a:rPr>
              <a:t> en </a:t>
            </a:r>
            <a:r>
              <a:rPr lang="en-US" sz="1200" err="1">
                <a:latin typeface="Arial" panose="020B0604020202020204" pitchFamily="34" charset="0"/>
                <a:cs typeface="Arial" panose="020B0604020202020204" pitchFamily="34" charset="0"/>
              </a:rPr>
              <a:t>cuenta</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búsqueda</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primeros dos </a:t>
            </a:r>
            <a:r>
              <a:rPr lang="en-US" sz="1200" err="1">
                <a:latin typeface="Arial" panose="020B0604020202020204" pitchFamily="34" charset="0"/>
                <a:cs typeface="Arial" panose="020B0604020202020204" pitchFamily="34" charset="0"/>
              </a:rPr>
              <a:t>índices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efectivos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respectivos</a:t>
            </a:r>
            <a:r>
              <a:rPr lang="en-US" sz="1200">
                <a:latin typeface="Arial" panose="020B0604020202020204" pitchFamily="34" charset="0"/>
                <a:cs typeface="Arial" panose="020B0604020202020204" pitchFamily="34" charset="0"/>
              </a:rPr>
              <a:t> a </a:t>
            </a:r>
            <a:r>
              <a:rPr lang="en-US" sz="1200" err="1">
                <a:latin typeface="Arial" panose="020B0604020202020204" pitchFamily="34" charset="0"/>
                <a:cs typeface="Arial" panose="020B0604020202020204" pitchFamily="34" charset="0"/>
              </a:rPr>
              <a:t>este</a:t>
            </a:r>
            <a:r>
              <a:rPr lang="en-US" sz="1200">
                <a:latin typeface="Arial" panose="020B0604020202020204" pitchFamily="34" charset="0"/>
                <a:cs typeface="Arial" panose="020B0604020202020204" pitchFamily="34" charset="0"/>
              </a:rPr>
              <a:t> modo, </a:t>
            </a:r>
            <a:r>
              <a:rPr lang="en-US" sz="1200" err="1">
                <a:latin typeface="Arial" panose="020B0604020202020204" pitchFamily="34" charset="0"/>
                <a:cs typeface="Arial" panose="020B0604020202020204" pitchFamily="34" charset="0"/>
              </a:rPr>
              <a:t>ya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no </a:t>
            </a:r>
            <a:r>
              <a:rPr lang="en-US" sz="1200" err="1">
                <a:latin typeface="Arial" panose="020B0604020202020204" pitchFamily="34" charset="0"/>
                <a:cs typeface="Arial" panose="020B0604020202020204" pitchFamily="34" charset="0"/>
              </a:rPr>
              <a:t>necesariamente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serían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correspondientes</a:t>
            </a:r>
            <a:r>
              <a:rPr lang="en-US" sz="1200">
                <a:latin typeface="Arial" panose="020B0604020202020204" pitchFamily="34" charset="0"/>
                <a:cs typeface="Arial" panose="020B0604020202020204" pitchFamily="34" charset="0"/>
              </a:rPr>
              <a:t> al 2 y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3. En </a:t>
            </a:r>
            <a:r>
              <a:rPr lang="en-US" sz="1200" err="1">
                <a:latin typeface="Arial" panose="020B0604020202020204" pitchFamily="34" charset="0"/>
                <a:cs typeface="Arial" panose="020B0604020202020204" pitchFamily="34" charset="0"/>
              </a:rPr>
              <a:t>comparación</a:t>
            </a:r>
            <a:r>
              <a:rPr lang="en-US" sz="1200">
                <a:latin typeface="Arial" panose="020B0604020202020204" pitchFamily="34" charset="0"/>
                <a:cs typeface="Arial" panose="020B0604020202020204" pitchFamily="34" charset="0"/>
              </a:rPr>
              <a:t> al </a:t>
            </a:r>
            <a:r>
              <a:rPr lang="en-US" sz="1200" err="1">
                <a:latin typeface="Arial" panose="020B0604020202020204" pitchFamily="34" charset="0"/>
                <a:cs typeface="Arial" panose="020B0604020202020204" pitchFamily="34" charset="0"/>
              </a:rPr>
              <a:t>acoplador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direccional</a:t>
            </a:r>
            <a:r>
              <a:rPr lang="en-US" sz="1200">
                <a:latin typeface="Arial" panose="020B0604020202020204" pitchFamily="34" charset="0"/>
                <a:cs typeface="Arial" panose="020B0604020202020204" pitchFamily="34" charset="0"/>
              </a:rPr>
              <a:t>, también se </a:t>
            </a:r>
            <a:r>
              <a:rPr lang="en-US" sz="1200" err="1">
                <a:latin typeface="Arial" panose="020B0604020202020204" pitchFamily="34" charset="0"/>
                <a:cs typeface="Arial" panose="020B0604020202020204" pitchFamily="34" charset="0"/>
              </a:rPr>
              <a:t>aprecia</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tendencia</a:t>
            </a:r>
            <a:r>
              <a:rPr lang="en-US" sz="1200">
                <a:latin typeface="Arial" panose="020B0604020202020204" pitchFamily="34" charset="0"/>
                <a:cs typeface="Arial" panose="020B0604020202020204" pitchFamily="34" charset="0"/>
              </a:rPr>
              <a:t> de la </a:t>
            </a:r>
            <a:r>
              <a:rPr lang="en-US" sz="1200" err="1">
                <a:latin typeface="Arial" panose="020B0604020202020204" pitchFamily="34" charset="0"/>
                <a:cs typeface="Arial" panose="020B0604020202020204" pitchFamily="34" charset="0"/>
              </a:rPr>
              <a:t>disminución</a:t>
            </a:r>
            <a:r>
              <a:rPr lang="en-US" sz="1200">
                <a:latin typeface="Arial" panose="020B0604020202020204" pitchFamily="34" charset="0"/>
                <a:cs typeface="Arial" panose="020B0604020202020204" pitchFamily="34" charset="0"/>
              </a:rPr>
              <a:t> de la longitude de </a:t>
            </a:r>
            <a:r>
              <a:rPr lang="en-US" sz="1200" err="1">
                <a:latin typeface="Arial" panose="020B0604020202020204" pitchFamily="34" charset="0"/>
                <a:cs typeface="Arial" panose="020B0604020202020204" pitchFamily="34" charset="0"/>
              </a:rPr>
              <a:t>onda</a:t>
            </a:r>
            <a:r>
              <a:rPr lang="en-US" sz="1200">
                <a:latin typeface="Arial" panose="020B0604020202020204" pitchFamily="34" charset="0"/>
                <a:cs typeface="Arial" panose="020B0604020202020204" pitchFamily="34" charset="0"/>
              </a:rPr>
              <a:t> con </a:t>
            </a:r>
            <a:r>
              <a:rPr lang="en-US" sz="1200" err="1">
                <a:latin typeface="Arial" panose="020B0604020202020204" pitchFamily="34" charset="0"/>
                <a:cs typeface="Arial" panose="020B0604020202020204" pitchFamily="34" charset="0"/>
              </a:rPr>
              <a:t>L_pi</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pero</a:t>
            </a:r>
            <a:r>
              <a:rPr lang="en-US" sz="1200">
                <a:latin typeface="Arial" panose="020B0604020202020204" pitchFamily="34" charset="0"/>
                <a:cs typeface="Arial" panose="020B0604020202020204" pitchFamily="34" charset="0"/>
              </a:rPr>
              <a:t> no tan </a:t>
            </a:r>
            <a:r>
              <a:rPr lang="en-US" sz="1200" err="1">
                <a:latin typeface="Arial" panose="020B0604020202020204" pitchFamily="34" charset="0"/>
                <a:cs typeface="Arial" panose="020B0604020202020204" pitchFamily="34" charset="0"/>
              </a:rPr>
              <a:t>bruscamente</a:t>
            </a:r>
            <a:r>
              <a:rPr lang="en-US" sz="1200">
                <a:latin typeface="Arial" panose="020B0604020202020204" pitchFamily="34" charset="0"/>
                <a:cs typeface="Arial" panose="020B0604020202020204" pitchFamily="34" charset="0"/>
              </a:rPr>
              <a:t>. Esto se </a:t>
            </a:r>
            <a:r>
              <a:rPr lang="en-US" sz="1200" err="1">
                <a:latin typeface="Arial" panose="020B0604020202020204" pitchFamily="34" charset="0"/>
                <a:cs typeface="Arial" panose="020B0604020202020204" pitchFamily="34" charset="0"/>
              </a:rPr>
              <a:t>debe</a:t>
            </a:r>
            <a:r>
              <a:rPr lang="en-US" sz="1200">
                <a:latin typeface="Arial" panose="020B0604020202020204" pitchFamily="34" charset="0"/>
                <a:cs typeface="Arial" panose="020B0604020202020204" pitchFamily="34" charset="0"/>
              </a:rPr>
              <a:t> a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un </a:t>
            </a:r>
            <a:r>
              <a:rPr lang="en-US" sz="1200" err="1">
                <a:latin typeface="Arial" panose="020B0604020202020204" pitchFamily="34" charset="0"/>
                <a:cs typeface="Arial" panose="020B0604020202020204" pitchFamily="34" charset="0"/>
              </a:rPr>
              <a:t>acoplador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direccional</a:t>
            </a:r>
            <a:r>
              <a:rPr lang="en-US" sz="1200">
                <a:latin typeface="Arial" panose="020B0604020202020204" pitchFamily="34" charset="0"/>
                <a:cs typeface="Arial" panose="020B0604020202020204" pitchFamily="34" charset="0"/>
              </a:rPr>
              <a:t> solo </a:t>
            </a:r>
            <a:r>
              <a:rPr lang="en-US" sz="1200" err="1">
                <a:latin typeface="Arial" panose="020B0604020202020204" pitchFamily="34" charset="0"/>
                <a:cs typeface="Arial" panose="020B0604020202020204" pitchFamily="34" charset="0"/>
              </a:rPr>
              <a:t>trata</a:t>
            </a:r>
            <a:r>
              <a:rPr lang="en-US" sz="1200">
                <a:latin typeface="Arial" panose="020B0604020202020204" pitchFamily="34" charset="0"/>
                <a:cs typeface="Arial" panose="020B0604020202020204" pitchFamily="34" charset="0"/>
              </a:rPr>
              <a:t> con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fundamentals, </a:t>
            </a:r>
            <a:r>
              <a:rPr lang="en-US" sz="1200" err="1">
                <a:latin typeface="Arial" panose="020B0604020202020204" pitchFamily="34" charset="0"/>
                <a:cs typeface="Arial" panose="020B0604020202020204" pitchFamily="34" charset="0"/>
              </a:rPr>
              <a:t>mientras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MMI también </a:t>
            </a:r>
            <a:r>
              <a:rPr lang="en-US" sz="1200" err="1">
                <a:latin typeface="Arial" panose="020B0604020202020204" pitchFamily="34" charset="0"/>
                <a:cs typeface="Arial" panose="020B0604020202020204" pitchFamily="34" charset="0"/>
              </a:rPr>
              <a:t>tratan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como</a:t>
            </a:r>
            <a:r>
              <a:rPr lang="en-US" sz="1200">
                <a:latin typeface="Arial" panose="020B0604020202020204" pitchFamily="34" charset="0"/>
                <a:cs typeface="Arial" panose="020B0604020202020204" pitchFamily="34" charset="0"/>
              </a:rPr>
              <a:t> bien indica </a:t>
            </a:r>
            <a:r>
              <a:rPr lang="en-US" sz="1200" err="1">
                <a:latin typeface="Arial" panose="020B0604020202020204" pitchFamily="34" charset="0"/>
                <a:cs typeface="Arial" panose="020B0604020202020204" pitchFamily="34" charset="0"/>
              </a:rPr>
              <a:t>su</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nombre</a:t>
            </a:r>
            <a:r>
              <a:rPr lang="en-US" sz="1200">
                <a:latin typeface="Arial" panose="020B0604020202020204" pitchFamily="34" charset="0"/>
                <a:cs typeface="Arial" panose="020B0604020202020204" pitchFamily="34" charset="0"/>
              </a:rPr>
              <a:t>, con </a:t>
            </a:r>
            <a:r>
              <a:rPr lang="en-US" sz="1200" err="1">
                <a:latin typeface="Arial" panose="020B0604020202020204" pitchFamily="34" charset="0"/>
                <a:cs typeface="Arial" panose="020B0604020202020204" pitchFamily="34" charset="0"/>
              </a:rPr>
              <a:t>multimodos</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n-US">
                    <a:noFill/>
                  </a:rPr>
                  <a:t> </a:t>
                </a:r>
              </a:p>
            </p:txBody>
          </p:sp>
        </mc:Fallback>
      </mc:AlternateContent>
      <p:pic>
        <p:nvPicPr>
          <p:cNvPr id="14" name="Imagen 13">
            <a:extLst>
              <a:ext uri="{FF2B5EF4-FFF2-40B4-BE49-F238E27FC236}">
                <a16:creationId xmlns:a16="http://schemas.microsoft.com/office/drawing/2014/main" id="{1A30E878-E02F-3C2A-30D0-7B71B76DEDC4}"/>
              </a:ext>
            </a:extLst>
          </p:cNvPr>
          <p:cNvPicPr>
            <a:picLocks noChangeAspect="1"/>
          </p:cNvPicPr>
          <p:nvPr/>
        </p:nvPicPr>
        <p:blipFill>
          <a:blip r:embed="rId6"/>
          <a:stretch>
            <a:fillRect/>
          </a:stretch>
        </p:blipFill>
        <p:spPr>
          <a:xfrm>
            <a:off x="685800" y="1510598"/>
            <a:ext cx="5311175" cy="3101878"/>
          </a:xfrm>
          <a:prstGeom prst="rect">
            <a:avLst/>
          </a:prstGeom>
        </p:spPr>
      </p:pic>
      <p:pic>
        <p:nvPicPr>
          <p:cNvPr id="17" name="Imagen 16">
            <a:extLst>
              <a:ext uri="{FF2B5EF4-FFF2-40B4-BE49-F238E27FC236}">
                <a16:creationId xmlns:a16="http://schemas.microsoft.com/office/drawing/2014/main" id="{58EB9AA0-8C59-0CFB-EB39-788B959917C0}"/>
              </a:ext>
            </a:extLst>
          </p:cNvPr>
          <p:cNvPicPr>
            <a:picLocks noChangeAspect="1"/>
          </p:cNvPicPr>
          <p:nvPr/>
        </p:nvPicPr>
        <p:blipFill>
          <a:blip r:embed="rId7"/>
          <a:stretch>
            <a:fillRect/>
          </a:stretch>
        </p:blipFill>
        <p:spPr>
          <a:xfrm>
            <a:off x="6349862" y="1541548"/>
            <a:ext cx="5429681" cy="3171089"/>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#4 – MMI coupler body width dependence</a:t>
            </a:r>
            <a:br>
              <a:rPr lang="en-US" sz="2500" spc="-5">
                <a:latin typeface="+mj-lt"/>
                <a:cs typeface="Lucida Sans"/>
              </a:rPr>
            </a:br>
            <a:r>
              <a:rPr lang="en-US" b="0"/>
              <a:t>Wavelength 1.55 µm, </a:t>
            </a:r>
            <a:r>
              <a:rPr lang="en-US" b="0" err="1"/>
              <a:t>wMMI</a:t>
            </a:r>
            <a:r>
              <a:rPr lang="en-US" b="0"/>
              <a:t> = 5-10 µm (steps 0.5 µm)</a:t>
            </a:r>
            <a:endParaRPr lang="en-US" sz="2500" b="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8D88CB07-C5F5-9BB7-9F41-E171F0F0E2B9}"/>
                  </a:ext>
                </a:extLst>
              </p:cNvPr>
              <p:cNvSpPr txBox="1"/>
              <p:nvPr/>
            </p:nvSpPr>
            <p:spPr>
              <a:xfrm>
                <a:off x="609441" y="4853510"/>
                <a:ext cx="11199971" cy="182832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buNone/>
                </a:pPr>
                <a:r>
                  <a:rPr lang="es-ES" sz="1200" dirty="0">
                    <a:latin typeface="Arial" panose="020B0604020202020204" pitchFamily="34" charset="0"/>
                    <a:cs typeface="Arial" panose="020B0604020202020204" pitchFamily="34" charset="0"/>
                  </a:rPr>
                  <a:t>Sí, aproximadamente para </a:t>
                </a:r>
                <a14:m>
                  <m:oMath xmlns:m="http://schemas.openxmlformats.org/officeDocument/2006/math">
                    <m:sSub>
                      <m:sSubPr>
                        <m:ctrlPr>
                          <a:rPr lang="ar-AE" sz="1200">
                            <a:latin typeface="Arial" panose="020B0604020202020204" pitchFamily="34" charset="0"/>
                            <a:cs typeface="Arial" panose="020B0604020202020204" pitchFamily="34" charset="0"/>
                          </a:rPr>
                        </m:ctrlPr>
                      </m:sSubPr>
                      <m:e>
                        <m:r>
                          <a:rPr lang="ar-AE" sz="1200">
                            <a:latin typeface="Arial" panose="020B0604020202020204" pitchFamily="34" charset="0"/>
                            <a:cs typeface="Arial" panose="020B0604020202020204" pitchFamily="34" charset="0"/>
                          </a:rPr>
                          <m:t>𝑤</m:t>
                        </m:r>
                      </m:e>
                      <m:sub>
                        <m:r>
                          <m:rPr>
                            <m:nor/>
                          </m:rPr>
                          <a:rPr lang="es-ES" sz="1200">
                            <a:latin typeface="Arial" panose="020B0604020202020204" pitchFamily="34" charset="0"/>
                            <a:cs typeface="Arial" panose="020B0604020202020204" pitchFamily="34" charset="0"/>
                          </a:rPr>
                          <m:t>MMI</m:t>
                        </m:r>
                      </m:sub>
                    </m:sSub>
                    <m:r>
                      <a:rPr lang="ar-AE" sz="1200">
                        <a:latin typeface="Arial" panose="020B0604020202020204" pitchFamily="34" charset="0"/>
                        <a:cs typeface="Arial" panose="020B0604020202020204" pitchFamily="34" charset="0"/>
                      </a:rPr>
                      <m:t>≈</m:t>
                    </m:r>
                    <m:r>
                      <a:rPr lang="ar-AE" sz="1200">
                        <a:latin typeface="Arial" panose="020B0604020202020204" pitchFamily="34" charset="0"/>
                        <a:cs typeface="Arial" panose="020B0604020202020204" pitchFamily="34" charset="0"/>
                      </a:rPr>
                      <m:t>10</m:t>
                    </m:r>
                    <m:r>
                      <m:rPr>
                        <m:nor/>
                      </m:rPr>
                      <a:rPr lang="ar-AE" sz="1200">
                        <a:latin typeface="Arial" panose="020B0604020202020204" pitchFamily="34" charset="0"/>
                        <a:cs typeface="Arial" panose="020B0604020202020204" pitchFamily="34" charset="0"/>
                      </a:rPr>
                      <m:t> </m:t>
                    </m:r>
                    <m:r>
                      <a:rPr lang="ar-AE" sz="1200">
                        <a:latin typeface="Arial" panose="020B0604020202020204" pitchFamily="34" charset="0"/>
                        <a:cs typeface="Arial" panose="020B0604020202020204" pitchFamily="34" charset="0"/>
                      </a:rPr>
                      <m:t>𝜇</m:t>
                    </m:r>
                    <m:r>
                      <a:rPr lang="ar-AE" sz="1200">
                        <a:latin typeface="Arial" panose="020B0604020202020204" pitchFamily="34" charset="0"/>
                        <a:cs typeface="Arial" panose="020B0604020202020204" pitchFamily="34" charset="0"/>
                      </a:rPr>
                      <m:t>𝑚</m:t>
                    </m:r>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En la gráfica se observa que, alrededor de ese ancho, las curvas de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𝐿</m:t>
                        </m:r>
                      </m:e>
                      <m:sub>
                        <m:r>
                          <a:rPr lang="es-ES" sz="1200" b="0" i="1" smtClean="0">
                            <a:latin typeface="Cambria Math" panose="02040503050406030204" pitchFamily="18" charset="0"/>
                          </a:rPr>
                          <m:t>𝑝𝑖</m:t>
                        </m:r>
                      </m:sub>
                    </m:sSub>
                  </m:oMath>
                </a14:m>
                <a:r>
                  <a:rPr lang="es-ES" sz="1200" dirty="0">
                    <a:latin typeface="Arial" panose="020B0604020202020204" pitchFamily="34" charset="0"/>
                    <a:cs typeface="Arial" panose="020B0604020202020204" pitchFamily="34" charset="0"/>
                  </a:rPr>
                  <a:t> para TE y TM prácticamente coinciden. Esto significa que </a:t>
                </a:r>
                <a14:m>
                  <m:oMath xmlns:m="http://schemas.openxmlformats.org/officeDocument/2006/math">
                    <m:sSub>
                      <m:sSubPr>
                        <m:ctrlPr>
                          <a:rPr lang="es-ES" sz="1200" b="0" i="0" smtClean="0">
                            <a:latin typeface="Cambria Math" panose="02040503050406030204" pitchFamily="18" charset="0"/>
                            <a:cs typeface="Arial" panose="020B0604020202020204" pitchFamily="34" charset="0"/>
                          </a:rPr>
                        </m:ctrlPr>
                      </m:sSubPr>
                      <m:e>
                        <m:r>
                          <m:rPr>
                            <m:sty m:val="p"/>
                          </m:rPr>
                          <a:rPr lang="es-ES" sz="1200" b="0" i="0" smtClean="0">
                            <a:latin typeface="Cambria Math" panose="02040503050406030204" pitchFamily="18" charset="0"/>
                            <a:cs typeface="Arial" panose="020B0604020202020204" pitchFamily="34" charset="0"/>
                          </a:rPr>
                          <m:t>L</m:t>
                        </m:r>
                      </m:e>
                      <m:sub>
                        <m:r>
                          <m:rPr>
                            <m:sty m:val="p"/>
                          </m:rPr>
                          <a:rPr lang="es-ES" sz="1200" b="0" i="0" smtClean="0">
                            <a:latin typeface="Cambria Math" panose="02040503050406030204" pitchFamily="18" charset="0"/>
                            <a:cs typeface="Arial" panose="020B0604020202020204" pitchFamily="34" charset="0"/>
                          </a:rPr>
                          <m:t>pi</m:t>
                        </m:r>
                      </m:sub>
                    </m:sSub>
                    <m:r>
                      <m:rPr>
                        <m:sty m:val="p"/>
                      </m:rPr>
                      <a:rPr lang="es-ES" sz="1200" b="0" i="0" smtClean="0">
                        <a:latin typeface="Cambria Math" panose="02040503050406030204" pitchFamily="18" charset="0"/>
                        <a:cs typeface="Arial" panose="020B0604020202020204" pitchFamily="34" charset="0"/>
                      </a:rPr>
                      <m:t>TE</m:t>
                    </m:r>
                    <m:r>
                      <a:rPr lang="ar-AE" sz="1200">
                        <a:latin typeface="Arial" panose="020B0604020202020204" pitchFamily="34" charset="0"/>
                        <a:cs typeface="Arial" panose="020B0604020202020204" pitchFamily="34" charset="0"/>
                      </a:rPr>
                      <m:t>≈</m:t>
                    </m:r>
                    <m:sSub>
                      <m:sSubPr>
                        <m:ctrlPr>
                          <a:rPr lang="es-ES" sz="1200" i="1">
                            <a:latin typeface="Cambria Math" panose="02040503050406030204" pitchFamily="18" charset="0"/>
                            <a:cs typeface="Arial" panose="020B0604020202020204" pitchFamily="34" charset="0"/>
                          </a:rPr>
                        </m:ctrlPr>
                      </m:sSubPr>
                      <m:e>
                        <m:r>
                          <m:rPr>
                            <m:sty m:val="p"/>
                          </m:rPr>
                          <a:rPr lang="es-ES" sz="1200">
                            <a:latin typeface="Cambria Math" panose="02040503050406030204" pitchFamily="18" charset="0"/>
                            <a:cs typeface="Arial" panose="020B0604020202020204" pitchFamily="34" charset="0"/>
                          </a:rPr>
                          <m:t>L</m:t>
                        </m:r>
                      </m:e>
                      <m:sub>
                        <m:r>
                          <m:rPr>
                            <m:sty m:val="p"/>
                          </m:rPr>
                          <a:rPr lang="es-ES" sz="1200">
                            <a:latin typeface="Cambria Math" panose="02040503050406030204" pitchFamily="18" charset="0"/>
                            <a:cs typeface="Arial" panose="020B0604020202020204" pitchFamily="34" charset="0"/>
                          </a:rPr>
                          <m:t>pi</m:t>
                        </m:r>
                      </m:sub>
                    </m:sSub>
                    <m:r>
                      <m:rPr>
                        <m:sty m:val="p"/>
                      </m:rPr>
                      <a:rPr lang="es-ES" sz="1200">
                        <a:latin typeface="Cambria Math" panose="02040503050406030204" pitchFamily="18" charset="0"/>
                        <a:cs typeface="Arial" panose="020B0604020202020204" pitchFamily="34" charset="0"/>
                      </a:rPr>
                      <m:t>T</m:t>
                    </m:r>
                    <m:r>
                      <m:rPr>
                        <m:sty m:val="p"/>
                      </m:rPr>
                      <a:rPr lang="es-ES" sz="1200" b="0" i="0" smtClean="0">
                        <a:latin typeface="Cambria Math" panose="02040503050406030204" pitchFamily="18" charset="0"/>
                        <a:cs typeface="Arial" panose="020B0604020202020204" pitchFamily="34" charset="0"/>
                      </a:rPr>
                      <m:t>M</m:t>
                    </m:r>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por lo que la longitud de autoimagen del MMI sería casi la misma para ambas polarizaciones. Por tanto, el acoplador podría funcionar casi de forma idéntica para TE y TM en ese punto de diseño.</a:t>
                </a:r>
              </a:p>
              <a:p>
                <a:pPr algn="just">
                  <a:buNone/>
                </a:pPr>
                <a:endParaRPr lang="es-ES" sz="1200" dirty="0">
                  <a:latin typeface="Arial" panose="020B0604020202020204" pitchFamily="34" charset="0"/>
                  <a:cs typeface="Arial" panose="020B0604020202020204" pitchFamily="34" charset="0"/>
                </a:endParaRPr>
              </a:p>
              <a:p>
                <a:pPr algn="just">
                  <a:buNone/>
                </a:pPr>
                <a:r>
                  <a:rPr lang="es-ES" sz="1200" dirty="0">
                    <a:latin typeface="Arial" panose="020B0604020202020204" pitchFamily="34" charset="0"/>
                    <a:cs typeface="Arial" panose="020B0604020202020204" pitchFamily="34" charset="0"/>
                  </a:rPr>
                  <a:t>Sin embargo, no es perfectamente independiente de la polarización en todo el rango, porque los modos TE y TM tienen distintos índices efectivos, distinta distribución de campo y distinta dispersión modal.</a:t>
                </a: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8D88CB07-C5F5-9BB7-9F41-E171F0F0E2B9}"/>
                  </a:ext>
                </a:extLst>
              </p:cNvPr>
              <p:cNvSpPr txBox="1">
                <a:spLocks noRot="1" noChangeAspect="1" noMove="1" noResize="1" noEditPoints="1" noAdjustHandles="1" noChangeArrowheads="1" noChangeShapeType="1" noTextEdit="1"/>
              </p:cNvSpPr>
              <p:nvPr/>
            </p:nvSpPr>
            <p:spPr>
              <a:xfrm>
                <a:off x="609441" y="4853510"/>
                <a:ext cx="11199971" cy="1828321"/>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n-US">
                    <a:noFill/>
                  </a:rPr>
                  <a:t> </a:t>
                </a:r>
              </a:p>
            </p:txBody>
          </p:sp>
        </mc:Fallback>
      </mc:AlternateContent>
      <p:pic>
        <p:nvPicPr>
          <p:cNvPr id="8" name="Imagen 7">
            <a:extLst>
              <a:ext uri="{FF2B5EF4-FFF2-40B4-BE49-F238E27FC236}">
                <a16:creationId xmlns:a16="http://schemas.microsoft.com/office/drawing/2014/main" id="{4A11F5D8-DC74-A6D6-D18A-0207FD07A928}"/>
              </a:ext>
            </a:extLst>
          </p:cNvPr>
          <p:cNvPicPr>
            <a:picLocks noChangeAspect="1"/>
          </p:cNvPicPr>
          <p:nvPr/>
        </p:nvPicPr>
        <p:blipFill>
          <a:blip r:embed="rId7"/>
          <a:stretch>
            <a:fillRect/>
          </a:stretch>
        </p:blipFill>
        <p:spPr>
          <a:xfrm>
            <a:off x="762000" y="1494261"/>
            <a:ext cx="5181441" cy="3022507"/>
          </a:xfrm>
          <a:prstGeom prst="rect">
            <a:avLst/>
          </a:prstGeom>
        </p:spPr>
      </p:pic>
      <p:pic>
        <p:nvPicPr>
          <p:cNvPr id="12" name="Imagen 11">
            <a:extLst>
              <a:ext uri="{FF2B5EF4-FFF2-40B4-BE49-F238E27FC236}">
                <a16:creationId xmlns:a16="http://schemas.microsoft.com/office/drawing/2014/main" id="{C29FE8D7-FAD1-9B93-7EB1-3D725358B4A7}"/>
              </a:ext>
            </a:extLst>
          </p:cNvPr>
          <p:cNvPicPr>
            <a:picLocks noChangeAspect="1"/>
          </p:cNvPicPr>
          <p:nvPr/>
        </p:nvPicPr>
        <p:blipFill>
          <a:blip r:embed="rId8"/>
          <a:stretch>
            <a:fillRect/>
          </a:stretch>
        </p:blipFill>
        <p:spPr>
          <a:xfrm>
            <a:off x="6331152" y="1591227"/>
            <a:ext cx="5349058" cy="3120284"/>
          </a:xfrm>
          <a:prstGeom prst="rect">
            <a:avLst/>
          </a:prstGeom>
        </p:spPr>
      </p:pic>
    </p:spTree>
    <p:extLst>
      <p:ext uri="{BB962C8B-B14F-4D97-AF65-F5344CB8AC3E}">
        <p14:creationId xmlns:p14="http://schemas.microsoft.com/office/powerpoint/2010/main" val="535939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2853</Words>
  <Application>Microsoft Office PowerPoint</Application>
  <PresentationFormat>Widescreen</PresentationFormat>
  <Paragraphs>230</Paragraphs>
  <Slides>21</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Calibri</vt:lpstr>
      <vt:lpstr>Cambria Math</vt:lpstr>
      <vt:lpstr>Lucida Sans</vt:lpstr>
      <vt:lpstr>Office Theme</vt:lpstr>
      <vt:lpstr>PowerPoint Presentation</vt:lpstr>
      <vt:lpstr>PowerPoint Presentation</vt:lpstr>
      <vt:lpstr>Learning outcome #1 – Directional coupler cross-section in GDSFactory </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#4 – Parallel uncoupled waveguides – TE0 mode</vt:lpstr>
      <vt:lpstr>PowerPoint Presentation</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12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Mara Sarrion Masip</cp:lastModifiedBy>
  <cp:revision>2</cp:revision>
  <dcterms:created xsi:type="dcterms:W3CDTF">2025-01-27T02:46:57Z</dcterms:created>
  <dcterms:modified xsi:type="dcterms:W3CDTF">2026-05-03T17:50:19Z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